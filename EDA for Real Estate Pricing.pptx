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1" r:id="rId2"/>
    <p:sldId id="2562" r:id="rId3"/>
    <p:sldId id="2563" r:id="rId4"/>
    <p:sldId id="2564" r:id="rId5"/>
    <p:sldId id="2565" r:id="rId6"/>
    <p:sldId id="2567" r:id="rId7"/>
    <p:sldId id="2568" r:id="rId8"/>
    <p:sldId id="2569" r:id="rId9"/>
    <p:sldId id="2570" r:id="rId10"/>
    <p:sldId id="2571" r:id="rId11"/>
    <p:sldId id="2572" r:id="rId12"/>
    <p:sldId id="2573" r:id="rId13"/>
    <p:sldId id="2585" r:id="rId14"/>
    <p:sldId id="2566" r:id="rId15"/>
    <p:sldId id="2589" r:id="rId16"/>
    <p:sldId id="2584" r:id="rId17"/>
    <p:sldId id="2591" r:id="rId18"/>
    <p:sldId id="2574" r:id="rId19"/>
    <p:sldId id="2576" r:id="rId20"/>
    <p:sldId id="2578" r:id="rId21"/>
    <p:sldId id="2579" r:id="rId22"/>
    <p:sldId id="2580" r:id="rId23"/>
    <p:sldId id="2592" r:id="rId24"/>
    <p:sldId id="258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loratory Data Analysis (EDA) for Real Estate Pricing: Uncovering Insights From Property Data" id="{E0279651-5D57-421E-AE75-1A9FB65E238A}">
          <p14:sldIdLst>
            <p14:sldId id="2561"/>
            <p14:sldId id="2562"/>
          </p14:sldIdLst>
        </p14:section>
        <p14:section name="Introduction to Exploratory Data Analysis in Real Estate" id="{AB493CA5-CA97-4837-826F-DF30773815F9}">
          <p14:sldIdLst>
            <p14:sldId id="2563"/>
            <p14:sldId id="2564"/>
            <p14:sldId id="2565"/>
          </p14:sldIdLst>
        </p14:section>
        <p14:section name="Data Preparation and Cleaning" id="{FD92BB2F-5DD8-4FCA-B28B-DEB2F5D8BD37}">
          <p14:sldIdLst>
            <p14:sldId id="2567"/>
            <p14:sldId id="2568"/>
            <p14:sldId id="2569"/>
            <p14:sldId id="2570"/>
          </p14:sldIdLst>
        </p14:section>
        <p14:section name="Univariate and Multivariate Analysis" id="{D5C9CA53-4080-49C9-B295-AB9C806AD813}">
          <p14:sldIdLst>
            <p14:sldId id="2571"/>
            <p14:sldId id="2572"/>
            <p14:sldId id="2573"/>
            <p14:sldId id="2585"/>
            <p14:sldId id="2566"/>
            <p14:sldId id="2589"/>
            <p14:sldId id="2584"/>
            <p14:sldId id="2591"/>
            <p14:sldId id="2574"/>
          </p14:sldIdLst>
        </p14:section>
        <p14:section name="MultiVariate Analysis" id="{156D8D97-C78A-4CCC-8CEB-133561DE05C8}">
          <p14:sldIdLst>
            <p14:sldId id="2576"/>
            <p14:sldId id="2578"/>
          </p14:sldIdLst>
        </p14:section>
        <p14:section name="Key Insights and Implications for Pricing Models" id="{C64B277D-B5C6-4E74-B7CF-00238166C263}">
          <p14:sldIdLst>
            <p14:sldId id="2579"/>
            <p14:sldId id="2580"/>
          </p14:sldIdLst>
        </p14:section>
        <p14:section name="Conclusion: Harnessing EDA to Drive Smarter Real Estate Pricing Decisions" id="{6C2B601A-7F6C-47C7-8ED1-E91C13CD40A9}">
          <p14:sldIdLst>
            <p14:sldId id="2592"/>
            <p14:sldId id="25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050DF9-9CC8-4AA4-9B05-2A4E9D2B7F7C}" v="964" dt="2026-02-01T20:07:22.8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268"/>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hash Sahoo" userId="cbda5c0254b87e85" providerId="LiveId" clId="{9C838C22-C32E-4DCE-B262-08D7E02A02EB}"/>
    <pc:docChg chg="undo redo custSel addSld delSld modSld sldOrd addSection delSection modSection">
      <pc:chgData name="Subhash Sahoo" userId="cbda5c0254b87e85" providerId="LiveId" clId="{9C838C22-C32E-4DCE-B262-08D7E02A02EB}" dt="2026-02-01T20:07:47.302" v="1964" actId="12"/>
      <pc:docMkLst>
        <pc:docMk/>
      </pc:docMkLst>
      <pc:sldChg chg="addSp modSp mod modAnim">
        <pc:chgData name="Subhash Sahoo" userId="cbda5c0254b87e85" providerId="LiveId" clId="{9C838C22-C32E-4DCE-B262-08D7E02A02EB}" dt="2026-02-01T15:18:04.024" v="61" actId="20577"/>
        <pc:sldMkLst>
          <pc:docMk/>
          <pc:sldMk cId="32034509" sldId="2561"/>
        </pc:sldMkLst>
        <pc:spChg chg="mod">
          <ac:chgData name="Subhash Sahoo" userId="cbda5c0254b87e85" providerId="LiveId" clId="{9C838C22-C32E-4DCE-B262-08D7E02A02EB}" dt="2026-02-01T15:18:04.024" v="61" actId="20577"/>
          <ac:spMkLst>
            <pc:docMk/>
            <pc:sldMk cId="32034509" sldId="2561"/>
            <ac:spMk id="2" creationId="{67F210DF-E74A-69F4-77B7-D3B9F373C06C}"/>
          </ac:spMkLst>
        </pc:spChg>
        <pc:spChg chg="mod">
          <ac:chgData name="Subhash Sahoo" userId="cbda5c0254b87e85" providerId="LiveId" clId="{9C838C22-C32E-4DCE-B262-08D7E02A02EB}" dt="2026-02-01T15:16:08.972" v="30" actId="20577"/>
          <ac:spMkLst>
            <pc:docMk/>
            <pc:sldMk cId="32034509" sldId="2561"/>
            <ac:spMk id="3" creationId="{4FBEE83A-C213-11C0-6C1B-0AF80EC3D310}"/>
          </ac:spMkLst>
        </pc:spChg>
        <pc:spChg chg="add mod">
          <ac:chgData name="Subhash Sahoo" userId="cbda5c0254b87e85" providerId="LiveId" clId="{9C838C22-C32E-4DCE-B262-08D7E02A02EB}" dt="2026-02-01T15:17:03.013" v="51" actId="1076"/>
          <ac:spMkLst>
            <pc:docMk/>
            <pc:sldMk cId="32034509" sldId="2561"/>
            <ac:spMk id="4" creationId="{38F44654-313B-7DD6-F470-C36642FA9684}"/>
          </ac:spMkLst>
        </pc:spChg>
      </pc:sldChg>
      <pc:sldChg chg="modSp">
        <pc:chgData name="Subhash Sahoo" userId="cbda5c0254b87e85" providerId="LiveId" clId="{9C838C22-C32E-4DCE-B262-08D7E02A02EB}" dt="2026-02-01T15:18:52.249" v="73" actId="20577"/>
        <pc:sldMkLst>
          <pc:docMk/>
          <pc:sldMk cId="621244755" sldId="2562"/>
        </pc:sldMkLst>
        <pc:spChg chg="mod">
          <ac:chgData name="Subhash Sahoo" userId="cbda5c0254b87e85" providerId="LiveId" clId="{9C838C22-C32E-4DCE-B262-08D7E02A02EB}" dt="2026-02-01T15:18:52.249" v="73" actId="20577"/>
          <ac:spMkLst>
            <pc:docMk/>
            <pc:sldMk cId="621244755" sldId="2562"/>
            <ac:spMk id="3" creationId="{3BE70478-0E02-CF4D-C3BA-933F3CDE52D2}"/>
          </ac:spMkLst>
        </pc:spChg>
      </pc:sldChg>
      <pc:sldChg chg="addSp modSp mod modAnim">
        <pc:chgData name="Subhash Sahoo" userId="cbda5c0254b87e85" providerId="LiveId" clId="{9C838C22-C32E-4DCE-B262-08D7E02A02EB}" dt="2026-02-01T15:27:44.928" v="127" actId="1076"/>
        <pc:sldMkLst>
          <pc:docMk/>
          <pc:sldMk cId="2886745997" sldId="2564"/>
        </pc:sldMkLst>
        <pc:spChg chg="mod">
          <ac:chgData name="Subhash Sahoo" userId="cbda5c0254b87e85" providerId="LiveId" clId="{9C838C22-C32E-4DCE-B262-08D7E02A02EB}" dt="2026-02-01T15:26:31.451" v="123" actId="14100"/>
          <ac:spMkLst>
            <pc:docMk/>
            <pc:sldMk cId="2886745997" sldId="2564"/>
            <ac:spMk id="2" creationId="{F51EE2FD-DCA2-4996-7446-5FDBCA227E59}"/>
          </ac:spMkLst>
        </pc:spChg>
        <pc:spChg chg="mod">
          <ac:chgData name="Subhash Sahoo" userId="cbda5c0254b87e85" providerId="LiveId" clId="{9C838C22-C32E-4DCE-B262-08D7E02A02EB}" dt="2026-02-01T15:27:44.928" v="127" actId="1076"/>
          <ac:spMkLst>
            <pc:docMk/>
            <pc:sldMk cId="2886745997" sldId="2564"/>
            <ac:spMk id="3" creationId="{3ECEE2F4-8AFF-861F-9D35-5E8D5B9D2D5F}"/>
          </ac:spMkLst>
        </pc:spChg>
        <pc:spChg chg="add mod">
          <ac:chgData name="Subhash Sahoo" userId="cbda5c0254b87e85" providerId="LiveId" clId="{9C838C22-C32E-4DCE-B262-08D7E02A02EB}" dt="2026-02-01T15:26:39.459" v="124" actId="1076"/>
          <ac:spMkLst>
            <pc:docMk/>
            <pc:sldMk cId="2886745997" sldId="2564"/>
            <ac:spMk id="4" creationId="{845CC9E9-7283-ED73-A6A2-51CF7F01B1BC}"/>
          </ac:spMkLst>
        </pc:spChg>
        <pc:spChg chg="add mod">
          <ac:chgData name="Subhash Sahoo" userId="cbda5c0254b87e85" providerId="LiveId" clId="{9C838C22-C32E-4DCE-B262-08D7E02A02EB}" dt="2026-02-01T15:26:43.383" v="125" actId="1076"/>
          <ac:spMkLst>
            <pc:docMk/>
            <pc:sldMk cId="2886745997" sldId="2564"/>
            <ac:spMk id="6" creationId="{F2A859B6-2523-3374-0F36-763B3682844B}"/>
          </ac:spMkLst>
        </pc:spChg>
      </pc:sldChg>
      <pc:sldChg chg="addSp delSp modSp mod modAnim">
        <pc:chgData name="Subhash Sahoo" userId="cbda5c0254b87e85" providerId="LiveId" clId="{9C838C22-C32E-4DCE-B262-08D7E02A02EB}" dt="2026-02-01T16:02:38.412" v="294" actId="478"/>
        <pc:sldMkLst>
          <pc:docMk/>
          <pc:sldMk cId="4188734515" sldId="2565"/>
        </pc:sldMkLst>
        <pc:spChg chg="mod">
          <ac:chgData name="Subhash Sahoo" userId="cbda5c0254b87e85" providerId="LiveId" clId="{9C838C22-C32E-4DCE-B262-08D7E02A02EB}" dt="2026-02-01T16:00:33.407" v="290" actId="1076"/>
          <ac:spMkLst>
            <pc:docMk/>
            <pc:sldMk cId="4188734515" sldId="2565"/>
            <ac:spMk id="2" creationId="{7400F632-E2CB-E677-02D5-0D462FE05EAE}"/>
          </ac:spMkLst>
        </pc:spChg>
        <pc:spChg chg="mod">
          <ac:chgData name="Subhash Sahoo" userId="cbda5c0254b87e85" providerId="LiveId" clId="{9C838C22-C32E-4DCE-B262-08D7E02A02EB}" dt="2026-02-01T16:00:36.958" v="291" actId="1076"/>
          <ac:spMkLst>
            <pc:docMk/>
            <pc:sldMk cId="4188734515" sldId="2565"/>
            <ac:spMk id="3" creationId="{696EFF28-150A-EDB0-4FE2-112EB96AC199}"/>
          </ac:spMkLst>
        </pc:spChg>
        <pc:picChg chg="add mod">
          <ac:chgData name="Subhash Sahoo" userId="cbda5c0254b87e85" providerId="LiveId" clId="{9C838C22-C32E-4DCE-B262-08D7E02A02EB}" dt="2026-02-01T16:00:42.587" v="292" actId="1076"/>
          <ac:picMkLst>
            <pc:docMk/>
            <pc:sldMk cId="4188734515" sldId="2565"/>
            <ac:picMk id="6" creationId="{2BA6F95D-908C-3BF9-EDA9-1C0CD123E257}"/>
          </ac:picMkLst>
        </pc:picChg>
        <pc:picChg chg="add del">
          <ac:chgData name="Subhash Sahoo" userId="cbda5c0254b87e85" providerId="LiveId" clId="{9C838C22-C32E-4DCE-B262-08D7E02A02EB}" dt="2026-02-01T16:02:38.412" v="294" actId="478"/>
          <ac:picMkLst>
            <pc:docMk/>
            <pc:sldMk cId="4188734515" sldId="2565"/>
            <ac:picMk id="8" creationId="{9B138B32-974D-FAC2-9155-C972A55FE3CA}"/>
          </ac:picMkLst>
        </pc:picChg>
      </pc:sldChg>
      <pc:sldChg chg="addSp delSp modSp mod ord delAnim modAnim">
        <pc:chgData name="Subhash Sahoo" userId="cbda5c0254b87e85" providerId="LiveId" clId="{9C838C22-C32E-4DCE-B262-08D7E02A02EB}" dt="2026-02-01T18:46:30.850" v="1200" actId="255"/>
        <pc:sldMkLst>
          <pc:docMk/>
          <pc:sldMk cId="112678566" sldId="2566"/>
        </pc:sldMkLst>
        <pc:spChg chg="mod">
          <ac:chgData name="Subhash Sahoo" userId="cbda5c0254b87e85" providerId="LiveId" clId="{9C838C22-C32E-4DCE-B262-08D7E02A02EB}" dt="2026-02-01T18:46:30.850" v="1200" actId="255"/>
          <ac:spMkLst>
            <pc:docMk/>
            <pc:sldMk cId="112678566" sldId="2566"/>
            <ac:spMk id="2" creationId="{8D9AFA53-6907-B9BE-F687-B429BB5BABF1}"/>
          </ac:spMkLst>
        </pc:spChg>
        <pc:spChg chg="mod">
          <ac:chgData name="Subhash Sahoo" userId="cbda5c0254b87e85" providerId="LiveId" clId="{9C838C22-C32E-4DCE-B262-08D7E02A02EB}" dt="2026-02-01T18:35:42.516" v="1143" actId="1076"/>
          <ac:spMkLst>
            <pc:docMk/>
            <pc:sldMk cId="112678566" sldId="2566"/>
            <ac:spMk id="3" creationId="{39E47149-F5EB-C292-D6F0-DF5C1D44DF53}"/>
          </ac:spMkLst>
        </pc:spChg>
        <pc:spChg chg="add del mod">
          <ac:chgData name="Subhash Sahoo" userId="cbda5c0254b87e85" providerId="LiveId" clId="{9C838C22-C32E-4DCE-B262-08D7E02A02EB}" dt="2026-02-01T18:28:47.149" v="1017" actId="478"/>
          <ac:spMkLst>
            <pc:docMk/>
            <pc:sldMk cId="112678566" sldId="2566"/>
            <ac:spMk id="4" creationId="{FC6A9D82-6E36-62E3-7788-63115907A1CB}"/>
          </ac:spMkLst>
        </pc:spChg>
        <pc:spChg chg="add mod">
          <ac:chgData name="Subhash Sahoo" userId="cbda5c0254b87e85" providerId="LiveId" clId="{9C838C22-C32E-4DCE-B262-08D7E02A02EB}" dt="2026-02-01T18:35:45.520" v="1144" actId="1076"/>
          <ac:spMkLst>
            <pc:docMk/>
            <pc:sldMk cId="112678566" sldId="2566"/>
            <ac:spMk id="7" creationId="{6711B1C6-34B0-A748-ABAF-4374A4EBF073}"/>
          </ac:spMkLst>
        </pc:spChg>
      </pc:sldChg>
      <pc:sldChg chg="addSp modSp mod modAnim">
        <pc:chgData name="Subhash Sahoo" userId="cbda5c0254b87e85" providerId="LiveId" clId="{9C838C22-C32E-4DCE-B262-08D7E02A02EB}" dt="2026-02-01T16:12:09.344" v="400" actId="20577"/>
        <pc:sldMkLst>
          <pc:docMk/>
          <pc:sldMk cId="2975061853" sldId="2568"/>
        </pc:sldMkLst>
        <pc:spChg chg="mod">
          <ac:chgData name="Subhash Sahoo" userId="cbda5c0254b87e85" providerId="LiveId" clId="{9C838C22-C32E-4DCE-B262-08D7E02A02EB}" dt="2026-02-01T16:08:23.785" v="325" actId="14100"/>
          <ac:spMkLst>
            <pc:docMk/>
            <pc:sldMk cId="2975061853" sldId="2568"/>
            <ac:spMk id="2" creationId="{E830BF0B-44C2-3312-F39E-255CBDC30642}"/>
          </ac:spMkLst>
        </pc:spChg>
        <pc:spChg chg="mod">
          <ac:chgData name="Subhash Sahoo" userId="cbda5c0254b87e85" providerId="LiveId" clId="{9C838C22-C32E-4DCE-B262-08D7E02A02EB}" dt="2026-02-01T16:12:09.344" v="400" actId="20577"/>
          <ac:spMkLst>
            <pc:docMk/>
            <pc:sldMk cId="2975061853" sldId="2568"/>
            <ac:spMk id="3" creationId="{D6429E5A-0837-97C8-3089-F17FBF360D6E}"/>
          </ac:spMkLst>
        </pc:spChg>
        <pc:picChg chg="mod">
          <ac:chgData name="Subhash Sahoo" userId="cbda5c0254b87e85" providerId="LiveId" clId="{9C838C22-C32E-4DCE-B262-08D7E02A02EB}" dt="2026-02-01T16:07:23.462" v="318" actId="14100"/>
          <ac:picMkLst>
            <pc:docMk/>
            <pc:sldMk cId="2975061853" sldId="2568"/>
            <ac:picMk id="5" creationId="{08B59F27-539A-4041-BD78-8E31C5F79746}"/>
          </ac:picMkLst>
        </pc:picChg>
        <pc:picChg chg="add mod">
          <ac:chgData name="Subhash Sahoo" userId="cbda5c0254b87e85" providerId="LiveId" clId="{9C838C22-C32E-4DCE-B262-08D7E02A02EB}" dt="2026-02-01T16:07:25.951" v="320" actId="1076"/>
          <ac:picMkLst>
            <pc:docMk/>
            <pc:sldMk cId="2975061853" sldId="2568"/>
            <ac:picMk id="6" creationId="{04330BBA-3EE9-59DA-4529-8B7DA4CAA4AA}"/>
          </ac:picMkLst>
        </pc:picChg>
      </pc:sldChg>
      <pc:sldChg chg="addSp modSp mod">
        <pc:chgData name="Subhash Sahoo" userId="cbda5c0254b87e85" providerId="LiveId" clId="{9C838C22-C32E-4DCE-B262-08D7E02A02EB}" dt="2026-02-01T16:15:32.822" v="410" actId="14100"/>
        <pc:sldMkLst>
          <pc:docMk/>
          <pc:sldMk cId="1107217874" sldId="2569"/>
        </pc:sldMkLst>
        <pc:spChg chg="mod">
          <ac:chgData name="Subhash Sahoo" userId="cbda5c0254b87e85" providerId="LiveId" clId="{9C838C22-C32E-4DCE-B262-08D7E02A02EB}" dt="2026-02-01T16:15:10.017" v="408" actId="1076"/>
          <ac:spMkLst>
            <pc:docMk/>
            <pc:sldMk cId="1107217874" sldId="2569"/>
            <ac:spMk id="2" creationId="{999FEC6A-B409-C148-D20B-E9278BFBC82C}"/>
          </ac:spMkLst>
        </pc:spChg>
        <pc:spChg chg="mod">
          <ac:chgData name="Subhash Sahoo" userId="cbda5c0254b87e85" providerId="LiveId" clId="{9C838C22-C32E-4DCE-B262-08D7E02A02EB}" dt="2026-02-01T16:15:23.664" v="409" actId="1076"/>
          <ac:spMkLst>
            <pc:docMk/>
            <pc:sldMk cId="1107217874" sldId="2569"/>
            <ac:spMk id="3" creationId="{B2AE1F0E-6E92-E843-BE2A-A2521CADF57E}"/>
          </ac:spMkLst>
        </pc:spChg>
        <pc:picChg chg="add mod">
          <ac:chgData name="Subhash Sahoo" userId="cbda5c0254b87e85" providerId="LiveId" clId="{9C838C22-C32E-4DCE-B262-08D7E02A02EB}" dt="2026-02-01T16:15:32.822" v="410" actId="14100"/>
          <ac:picMkLst>
            <pc:docMk/>
            <pc:sldMk cId="1107217874" sldId="2569"/>
            <ac:picMk id="6" creationId="{26CE6974-2161-9C82-412D-83404E997823}"/>
          </ac:picMkLst>
        </pc:picChg>
      </pc:sldChg>
      <pc:sldChg chg="addSp modSp mod addAnim delAnim modAnim">
        <pc:chgData name="Subhash Sahoo" userId="cbda5c0254b87e85" providerId="LiveId" clId="{9C838C22-C32E-4DCE-B262-08D7E02A02EB}" dt="2026-02-01T16:32:07.148" v="495" actId="14100"/>
        <pc:sldMkLst>
          <pc:docMk/>
          <pc:sldMk cId="347933128" sldId="2570"/>
        </pc:sldMkLst>
        <pc:spChg chg="mod">
          <ac:chgData name="Subhash Sahoo" userId="cbda5c0254b87e85" providerId="LiveId" clId="{9C838C22-C32E-4DCE-B262-08D7E02A02EB}" dt="2026-02-01T16:31:44.504" v="492" actId="1076"/>
          <ac:spMkLst>
            <pc:docMk/>
            <pc:sldMk cId="347933128" sldId="2570"/>
            <ac:spMk id="3" creationId="{DD162916-6676-C94B-EAA8-3B4C04D9DB9E}"/>
          </ac:spMkLst>
        </pc:spChg>
        <pc:picChg chg="mod">
          <ac:chgData name="Subhash Sahoo" userId="cbda5c0254b87e85" providerId="LiveId" clId="{9C838C22-C32E-4DCE-B262-08D7E02A02EB}" dt="2026-02-01T16:32:07.148" v="495" actId="14100"/>
          <ac:picMkLst>
            <pc:docMk/>
            <pc:sldMk cId="347933128" sldId="2570"/>
            <ac:picMk id="5" creationId="{38183CD7-21A6-4B0D-A6BC-30E2BA5A544F}"/>
          </ac:picMkLst>
        </pc:picChg>
        <pc:picChg chg="add mod">
          <ac:chgData name="Subhash Sahoo" userId="cbda5c0254b87e85" providerId="LiveId" clId="{9C838C22-C32E-4DCE-B262-08D7E02A02EB}" dt="2026-02-01T16:31:53.702" v="493" actId="14100"/>
          <ac:picMkLst>
            <pc:docMk/>
            <pc:sldMk cId="347933128" sldId="2570"/>
            <ac:picMk id="6" creationId="{41755472-58B2-D717-67D9-B2E6065771E4}"/>
          </ac:picMkLst>
        </pc:picChg>
      </pc:sldChg>
      <pc:sldChg chg="modSp">
        <pc:chgData name="Subhash Sahoo" userId="cbda5c0254b87e85" providerId="LiveId" clId="{9C838C22-C32E-4DCE-B262-08D7E02A02EB}" dt="2026-02-01T16:32:23.736" v="506" actId="20577"/>
        <pc:sldMkLst>
          <pc:docMk/>
          <pc:sldMk cId="1107013673" sldId="2571"/>
        </pc:sldMkLst>
        <pc:spChg chg="mod">
          <ac:chgData name="Subhash Sahoo" userId="cbda5c0254b87e85" providerId="LiveId" clId="{9C838C22-C32E-4DCE-B262-08D7E02A02EB}" dt="2026-02-01T16:32:23.736" v="506" actId="20577"/>
          <ac:spMkLst>
            <pc:docMk/>
            <pc:sldMk cId="1107013673" sldId="2571"/>
            <ac:spMk id="2" creationId="{6EC3D92D-C8E5-BF1B-6276-A89D094CAD34}"/>
          </ac:spMkLst>
        </pc:spChg>
      </pc:sldChg>
      <pc:sldChg chg="addSp modSp mod modAnim">
        <pc:chgData name="Subhash Sahoo" userId="cbda5c0254b87e85" providerId="LiveId" clId="{9C838C22-C32E-4DCE-B262-08D7E02A02EB}" dt="2026-02-01T18:00:27.620" v="672" actId="14100"/>
        <pc:sldMkLst>
          <pc:docMk/>
          <pc:sldMk cId="2037122135" sldId="2572"/>
        </pc:sldMkLst>
        <pc:spChg chg="mod">
          <ac:chgData name="Subhash Sahoo" userId="cbda5c0254b87e85" providerId="LiveId" clId="{9C838C22-C32E-4DCE-B262-08D7E02A02EB}" dt="2026-02-01T18:00:00" v="667" actId="14100"/>
          <ac:spMkLst>
            <pc:docMk/>
            <pc:sldMk cId="2037122135" sldId="2572"/>
            <ac:spMk id="2" creationId="{7DDEB573-3F18-922A-E89E-6E63D8A67010}"/>
          </ac:spMkLst>
        </pc:spChg>
        <pc:spChg chg="mod">
          <ac:chgData name="Subhash Sahoo" userId="cbda5c0254b87e85" providerId="LiveId" clId="{9C838C22-C32E-4DCE-B262-08D7E02A02EB}" dt="2026-02-01T17:48:23.867" v="610" actId="14100"/>
          <ac:spMkLst>
            <pc:docMk/>
            <pc:sldMk cId="2037122135" sldId="2572"/>
            <ac:spMk id="3" creationId="{0D6AA462-52CD-184A-9FE4-FDC65DDC758E}"/>
          </ac:spMkLst>
        </pc:spChg>
        <pc:spChg chg="add mod">
          <ac:chgData name="Subhash Sahoo" userId="cbda5c0254b87e85" providerId="LiveId" clId="{9C838C22-C32E-4DCE-B262-08D7E02A02EB}" dt="2026-02-01T16:40:51.832" v="558" actId="5793"/>
          <ac:spMkLst>
            <pc:docMk/>
            <pc:sldMk cId="2037122135" sldId="2572"/>
            <ac:spMk id="4" creationId="{69C78C05-FC59-1A9B-8014-CD937EDA3DEB}"/>
          </ac:spMkLst>
        </pc:spChg>
        <pc:spChg chg="add mod">
          <ac:chgData name="Subhash Sahoo" userId="cbda5c0254b87e85" providerId="LiveId" clId="{9C838C22-C32E-4DCE-B262-08D7E02A02EB}" dt="2026-02-01T18:00:27.620" v="672" actId="14100"/>
          <ac:spMkLst>
            <pc:docMk/>
            <pc:sldMk cId="2037122135" sldId="2572"/>
            <ac:spMk id="6" creationId="{46CE3FEE-C534-15E2-9EDF-81A2417729C9}"/>
          </ac:spMkLst>
        </pc:spChg>
        <pc:spChg chg="add mod">
          <ac:chgData name="Subhash Sahoo" userId="cbda5c0254b87e85" providerId="LiveId" clId="{9C838C22-C32E-4DCE-B262-08D7E02A02EB}" dt="2026-02-01T18:00:23.609" v="671" actId="1076"/>
          <ac:spMkLst>
            <pc:docMk/>
            <pc:sldMk cId="2037122135" sldId="2572"/>
            <ac:spMk id="8" creationId="{D1A698C7-190E-AA45-05B2-E464AA48C761}"/>
          </ac:spMkLst>
        </pc:spChg>
      </pc:sldChg>
      <pc:sldChg chg="addSp delSp modSp mod modAnim">
        <pc:chgData name="Subhash Sahoo" userId="cbda5c0254b87e85" providerId="LiveId" clId="{9C838C22-C32E-4DCE-B262-08D7E02A02EB}" dt="2026-02-01T19:30:01.173" v="1604" actId="22"/>
        <pc:sldMkLst>
          <pc:docMk/>
          <pc:sldMk cId="878422041" sldId="2573"/>
        </pc:sldMkLst>
        <pc:spChg chg="del mod">
          <ac:chgData name="Subhash Sahoo" userId="cbda5c0254b87e85" providerId="LiveId" clId="{9C838C22-C32E-4DCE-B262-08D7E02A02EB}" dt="2026-02-01T18:02:53.186" v="678" actId="478"/>
          <ac:spMkLst>
            <pc:docMk/>
            <pc:sldMk cId="878422041" sldId="2573"/>
            <ac:spMk id="2" creationId="{6273F761-055B-C8D4-7AFA-62391D9D816B}"/>
          </ac:spMkLst>
        </pc:spChg>
        <pc:spChg chg="mod">
          <ac:chgData name="Subhash Sahoo" userId="cbda5c0254b87e85" providerId="LiveId" clId="{9C838C22-C32E-4DCE-B262-08D7E02A02EB}" dt="2026-02-01T18:21:43.039" v="960" actId="13926"/>
          <ac:spMkLst>
            <pc:docMk/>
            <pc:sldMk cId="878422041" sldId="2573"/>
            <ac:spMk id="3" creationId="{03DB4AEF-7C8E-959A-CAA6-A7BC53A5439F}"/>
          </ac:spMkLst>
        </pc:spChg>
        <pc:spChg chg="add del mod">
          <ac:chgData name="Subhash Sahoo" userId="cbda5c0254b87e85" providerId="LiveId" clId="{9C838C22-C32E-4DCE-B262-08D7E02A02EB}" dt="2026-02-01T18:02:56.250" v="679" actId="478"/>
          <ac:spMkLst>
            <pc:docMk/>
            <pc:sldMk cId="878422041" sldId="2573"/>
            <ac:spMk id="6" creationId="{FAD73804-1146-7E0A-CA0E-5751F1E6651D}"/>
          </ac:spMkLst>
        </pc:spChg>
        <pc:spChg chg="add del">
          <ac:chgData name="Subhash Sahoo" userId="cbda5c0254b87e85" providerId="LiveId" clId="{9C838C22-C32E-4DCE-B262-08D7E02A02EB}" dt="2026-02-01T19:30:01.173" v="1604" actId="22"/>
          <ac:spMkLst>
            <pc:docMk/>
            <pc:sldMk cId="878422041" sldId="2573"/>
            <ac:spMk id="8" creationId="{A4DD4502-EEFA-A14D-CB20-9A25F654AB72}"/>
          </ac:spMkLst>
        </pc:spChg>
      </pc:sldChg>
      <pc:sldChg chg="addSp delSp modSp mod">
        <pc:chgData name="Subhash Sahoo" userId="cbda5c0254b87e85" providerId="LiveId" clId="{9C838C22-C32E-4DCE-B262-08D7E02A02EB}" dt="2026-02-01T19:54:06.633" v="1868" actId="1076"/>
        <pc:sldMkLst>
          <pc:docMk/>
          <pc:sldMk cId="3748977955" sldId="2574"/>
        </pc:sldMkLst>
        <pc:spChg chg="mod">
          <ac:chgData name="Subhash Sahoo" userId="cbda5c0254b87e85" providerId="LiveId" clId="{9C838C22-C32E-4DCE-B262-08D7E02A02EB}" dt="2026-02-01T19:52:40.894" v="1858" actId="1076"/>
          <ac:spMkLst>
            <pc:docMk/>
            <pc:sldMk cId="3748977955" sldId="2574"/>
            <ac:spMk id="2" creationId="{D57061FD-FCA6-BEAE-941F-4E8E756A491A}"/>
          </ac:spMkLst>
        </pc:spChg>
        <pc:spChg chg="mod">
          <ac:chgData name="Subhash Sahoo" userId="cbda5c0254b87e85" providerId="LiveId" clId="{9C838C22-C32E-4DCE-B262-08D7E02A02EB}" dt="2026-02-01T19:54:06.633" v="1868" actId="1076"/>
          <ac:spMkLst>
            <pc:docMk/>
            <pc:sldMk cId="3748977955" sldId="2574"/>
            <ac:spMk id="3" creationId="{37737627-5FF9-E05A-C367-8D380B79F67A}"/>
          </ac:spMkLst>
        </pc:spChg>
        <pc:picChg chg="add del mod">
          <ac:chgData name="Subhash Sahoo" userId="cbda5c0254b87e85" providerId="LiveId" clId="{9C838C22-C32E-4DCE-B262-08D7E02A02EB}" dt="2026-02-01T19:53:44.328" v="1863" actId="478"/>
          <ac:picMkLst>
            <pc:docMk/>
            <pc:sldMk cId="3748977955" sldId="2574"/>
            <ac:picMk id="6" creationId="{CE5973D0-5D0D-4F6B-B02D-44ADB02E472E}"/>
          </ac:picMkLst>
        </pc:picChg>
        <pc:picChg chg="add mod">
          <ac:chgData name="Subhash Sahoo" userId="cbda5c0254b87e85" providerId="LiveId" clId="{9C838C22-C32E-4DCE-B262-08D7E02A02EB}" dt="2026-02-01T19:54:03.536" v="1867" actId="1076"/>
          <ac:picMkLst>
            <pc:docMk/>
            <pc:sldMk cId="3748977955" sldId="2574"/>
            <ac:picMk id="8" creationId="{E712BC3B-91E7-7CC3-57C4-78D86568D63B}"/>
          </ac:picMkLst>
        </pc:picChg>
      </pc:sldChg>
      <pc:sldChg chg="add del">
        <pc:chgData name="Subhash Sahoo" userId="cbda5c0254b87e85" providerId="LiveId" clId="{9C838C22-C32E-4DCE-B262-08D7E02A02EB}" dt="2026-02-01T18:42:54.501" v="1193" actId="47"/>
        <pc:sldMkLst>
          <pc:docMk/>
          <pc:sldMk cId="954805159" sldId="2575"/>
        </pc:sldMkLst>
      </pc:sldChg>
      <pc:sldChg chg="addSp delSp modSp add del mod modAnim">
        <pc:chgData name="Subhash Sahoo" userId="cbda5c0254b87e85" providerId="LiveId" clId="{9C838C22-C32E-4DCE-B262-08D7E02A02EB}" dt="2026-02-01T19:11:30.637" v="1409" actId="1076"/>
        <pc:sldMkLst>
          <pc:docMk/>
          <pc:sldMk cId="3874868225" sldId="2576"/>
        </pc:sldMkLst>
        <pc:spChg chg="del mod">
          <ac:chgData name="Subhash Sahoo" userId="cbda5c0254b87e85" providerId="LiveId" clId="{9C838C22-C32E-4DCE-B262-08D7E02A02EB}" dt="2026-02-01T19:00:31.765" v="1304" actId="21"/>
          <ac:spMkLst>
            <pc:docMk/>
            <pc:sldMk cId="3874868225" sldId="2576"/>
            <ac:spMk id="2" creationId="{7D7D83B8-BF78-56A0-FC33-813BDBB5A2F8}"/>
          </ac:spMkLst>
        </pc:spChg>
        <pc:spChg chg="mod">
          <ac:chgData name="Subhash Sahoo" userId="cbda5c0254b87e85" providerId="LiveId" clId="{9C838C22-C32E-4DCE-B262-08D7E02A02EB}" dt="2026-02-01T19:11:30.637" v="1409" actId="1076"/>
          <ac:spMkLst>
            <pc:docMk/>
            <pc:sldMk cId="3874868225" sldId="2576"/>
            <ac:spMk id="3" creationId="{072EB2EC-5B71-7C6F-D224-2B21EA5534CA}"/>
          </ac:spMkLst>
        </pc:spChg>
        <pc:spChg chg="add del mod">
          <ac:chgData name="Subhash Sahoo" userId="cbda5c0254b87e85" providerId="LiveId" clId="{9C838C22-C32E-4DCE-B262-08D7E02A02EB}" dt="2026-02-01T19:00:38.691" v="1306"/>
          <ac:spMkLst>
            <pc:docMk/>
            <pc:sldMk cId="3874868225" sldId="2576"/>
            <ac:spMk id="8" creationId="{736F0C67-10C5-5336-8099-94C79D8A69F8}"/>
          </ac:spMkLst>
        </pc:spChg>
        <pc:spChg chg="add mod">
          <ac:chgData name="Subhash Sahoo" userId="cbda5c0254b87e85" providerId="LiveId" clId="{9C838C22-C32E-4DCE-B262-08D7E02A02EB}" dt="2026-02-01T19:11:21.424" v="1407" actId="255"/>
          <ac:spMkLst>
            <pc:docMk/>
            <pc:sldMk cId="3874868225" sldId="2576"/>
            <ac:spMk id="9" creationId="{7D7D83B8-BF78-56A0-FC33-813BDBB5A2F8}"/>
          </ac:spMkLst>
        </pc:spChg>
        <pc:spChg chg="add mod">
          <ac:chgData name="Subhash Sahoo" userId="cbda5c0254b87e85" providerId="LiveId" clId="{9C838C22-C32E-4DCE-B262-08D7E02A02EB}" dt="2026-02-01T19:02:08.713" v="1333" actId="21"/>
          <ac:spMkLst>
            <pc:docMk/>
            <pc:sldMk cId="3874868225" sldId="2576"/>
            <ac:spMk id="10" creationId="{4E53A5EA-3B25-67EB-E68F-D7F63E4C5391}"/>
          </ac:spMkLst>
        </pc:spChg>
        <pc:spChg chg="add mod">
          <ac:chgData name="Subhash Sahoo" userId="cbda5c0254b87e85" providerId="LiveId" clId="{9C838C22-C32E-4DCE-B262-08D7E02A02EB}" dt="2026-02-01T19:05:01.565" v="1400" actId="1076"/>
          <ac:spMkLst>
            <pc:docMk/>
            <pc:sldMk cId="3874868225" sldId="2576"/>
            <ac:spMk id="11" creationId="{59AD7D21-FE14-F766-7250-81F7F6BE10CF}"/>
          </ac:spMkLst>
        </pc:spChg>
        <pc:picChg chg="mod">
          <ac:chgData name="Subhash Sahoo" userId="cbda5c0254b87e85" providerId="LiveId" clId="{9C838C22-C32E-4DCE-B262-08D7E02A02EB}" dt="2026-02-01T19:05:07.257" v="1401" actId="1076"/>
          <ac:picMkLst>
            <pc:docMk/>
            <pc:sldMk cId="3874868225" sldId="2576"/>
            <ac:picMk id="5" creationId="{0E7E62CA-C731-4F55-B65D-3DCA72A9E08B}"/>
          </ac:picMkLst>
        </pc:picChg>
        <pc:picChg chg="add mod">
          <ac:chgData name="Subhash Sahoo" userId="cbda5c0254b87e85" providerId="LiveId" clId="{9C838C22-C32E-4DCE-B262-08D7E02A02EB}" dt="2026-02-01T19:05:15.725" v="1403" actId="14100"/>
          <ac:picMkLst>
            <pc:docMk/>
            <pc:sldMk cId="3874868225" sldId="2576"/>
            <ac:picMk id="6" creationId="{2F0F5AC1-1299-4235-FDCF-08E256D3260C}"/>
          </ac:picMkLst>
        </pc:picChg>
      </pc:sldChg>
      <pc:sldChg chg="del">
        <pc:chgData name="Subhash Sahoo" userId="cbda5c0254b87e85" providerId="LiveId" clId="{9C838C22-C32E-4DCE-B262-08D7E02A02EB}" dt="2026-02-01T18:41:23.796" v="1190" actId="2696"/>
        <pc:sldMkLst>
          <pc:docMk/>
          <pc:sldMk cId="1042954176" sldId="2577"/>
        </pc:sldMkLst>
      </pc:sldChg>
      <pc:sldChg chg="addSp delSp modSp add del mod delAnim modAnim">
        <pc:chgData name="Subhash Sahoo" userId="cbda5c0254b87e85" providerId="LiveId" clId="{9C838C22-C32E-4DCE-B262-08D7E02A02EB}" dt="2026-02-01T19:29:14.303" v="1602" actId="14100"/>
        <pc:sldMkLst>
          <pc:docMk/>
          <pc:sldMk cId="600051702" sldId="2578"/>
        </pc:sldMkLst>
        <pc:spChg chg="mod">
          <ac:chgData name="Subhash Sahoo" userId="cbda5c0254b87e85" providerId="LiveId" clId="{9C838C22-C32E-4DCE-B262-08D7E02A02EB}" dt="2026-02-01T19:17:43.958" v="1471" actId="1076"/>
          <ac:spMkLst>
            <pc:docMk/>
            <pc:sldMk cId="600051702" sldId="2578"/>
            <ac:spMk id="2" creationId="{D47465F8-2CA6-C1CD-3676-7CC5B3701DDB}"/>
          </ac:spMkLst>
        </pc:spChg>
        <pc:spChg chg="mod">
          <ac:chgData name="Subhash Sahoo" userId="cbda5c0254b87e85" providerId="LiveId" clId="{9C838C22-C32E-4DCE-B262-08D7E02A02EB}" dt="2026-02-01T19:29:14.303" v="1602" actId="14100"/>
          <ac:spMkLst>
            <pc:docMk/>
            <pc:sldMk cId="600051702" sldId="2578"/>
            <ac:spMk id="3" creationId="{5F3B959F-0149-02DF-3B22-890982F7D907}"/>
          </ac:spMkLst>
        </pc:spChg>
        <pc:spChg chg="add del mod">
          <ac:chgData name="Subhash Sahoo" userId="cbda5c0254b87e85" providerId="LiveId" clId="{9C838C22-C32E-4DCE-B262-08D7E02A02EB}" dt="2026-02-01T19:17:15.993" v="1466" actId="478"/>
          <ac:spMkLst>
            <pc:docMk/>
            <pc:sldMk cId="600051702" sldId="2578"/>
            <ac:spMk id="4" creationId="{24F821BE-40E2-57EC-2D8A-E5221BB949D8}"/>
          </ac:spMkLst>
        </pc:spChg>
        <pc:spChg chg="add mod">
          <ac:chgData name="Subhash Sahoo" userId="cbda5c0254b87e85" providerId="LiveId" clId="{9C838C22-C32E-4DCE-B262-08D7E02A02EB}" dt="2026-02-01T19:29:00.475" v="1599" actId="1076"/>
          <ac:spMkLst>
            <pc:docMk/>
            <pc:sldMk cId="600051702" sldId="2578"/>
            <ac:spMk id="10" creationId="{7876FD7E-D479-3449-FC42-E4A60F934A0A}"/>
          </ac:spMkLst>
        </pc:spChg>
        <pc:picChg chg="add del mod">
          <ac:chgData name="Subhash Sahoo" userId="cbda5c0254b87e85" providerId="LiveId" clId="{9C838C22-C32E-4DCE-B262-08D7E02A02EB}" dt="2026-02-01T19:19:15.008" v="1472" actId="478"/>
          <ac:picMkLst>
            <pc:docMk/>
            <pc:sldMk cId="600051702" sldId="2578"/>
            <ac:picMk id="7" creationId="{04604B9A-856C-CFD0-7E70-2EEA41219330}"/>
          </ac:picMkLst>
        </pc:picChg>
        <pc:picChg chg="add mod">
          <ac:chgData name="Subhash Sahoo" userId="cbda5c0254b87e85" providerId="LiveId" clId="{9C838C22-C32E-4DCE-B262-08D7E02A02EB}" dt="2026-02-01T19:29:04.101" v="1600" actId="1076"/>
          <ac:picMkLst>
            <pc:docMk/>
            <pc:sldMk cId="600051702" sldId="2578"/>
            <ac:picMk id="9" creationId="{E664D9CF-EAA7-B948-CB36-7900D98A6753}"/>
          </ac:picMkLst>
        </pc:picChg>
      </pc:sldChg>
      <pc:sldChg chg="modSp mod modAnim">
        <pc:chgData name="Subhash Sahoo" userId="cbda5c0254b87e85" providerId="LiveId" clId="{9C838C22-C32E-4DCE-B262-08D7E02A02EB}" dt="2026-02-01T20:00:32.544" v="1922" actId="14100"/>
        <pc:sldMkLst>
          <pc:docMk/>
          <pc:sldMk cId="238415421" sldId="2580"/>
        </pc:sldMkLst>
        <pc:spChg chg="mod">
          <ac:chgData name="Subhash Sahoo" userId="cbda5c0254b87e85" providerId="LiveId" clId="{9C838C22-C32E-4DCE-B262-08D7E02A02EB}" dt="2026-02-01T20:00:32.544" v="1922" actId="14100"/>
          <ac:spMkLst>
            <pc:docMk/>
            <pc:sldMk cId="238415421" sldId="2580"/>
            <ac:spMk id="3" creationId="{F77FB2CC-9755-2B76-64D0-18278EF21FD3}"/>
          </ac:spMkLst>
        </pc:spChg>
      </pc:sldChg>
      <pc:sldChg chg="del">
        <pc:chgData name="Subhash Sahoo" userId="cbda5c0254b87e85" providerId="LiveId" clId="{9C838C22-C32E-4DCE-B262-08D7E02A02EB}" dt="2026-02-01T20:01:00.152" v="1923" actId="47"/>
        <pc:sldMkLst>
          <pc:docMk/>
          <pc:sldMk cId="594052155" sldId="2581"/>
        </pc:sldMkLst>
      </pc:sldChg>
      <pc:sldChg chg="del">
        <pc:chgData name="Subhash Sahoo" userId="cbda5c0254b87e85" providerId="LiveId" clId="{9C838C22-C32E-4DCE-B262-08D7E02A02EB}" dt="2026-02-01T20:01:12.522" v="1924" actId="47"/>
        <pc:sldMkLst>
          <pc:docMk/>
          <pc:sldMk cId="1148000466" sldId="2582"/>
        </pc:sldMkLst>
      </pc:sldChg>
      <pc:sldChg chg="addSp modSp add mod modTransition modClrScheme chgLayout">
        <pc:chgData name="Subhash Sahoo" userId="cbda5c0254b87e85" providerId="LiveId" clId="{9C838C22-C32E-4DCE-B262-08D7E02A02EB}" dt="2026-02-01T18:52:28.860" v="1268" actId="255"/>
        <pc:sldMkLst>
          <pc:docMk/>
          <pc:sldMk cId="1286849947" sldId="2584"/>
        </pc:sldMkLst>
        <pc:spChg chg="mod">
          <ac:chgData name="Subhash Sahoo" userId="cbda5c0254b87e85" providerId="LiveId" clId="{9C838C22-C32E-4DCE-B262-08D7E02A02EB}" dt="2026-02-01T18:51:11.444" v="1259" actId="1076"/>
          <ac:spMkLst>
            <pc:docMk/>
            <pc:sldMk cId="1286849947" sldId="2584"/>
            <ac:spMk id="2" creationId="{CE359C76-3401-1446-1902-57B2316D5EA1}"/>
          </ac:spMkLst>
        </pc:spChg>
        <pc:spChg chg="mod">
          <ac:chgData name="Subhash Sahoo" userId="cbda5c0254b87e85" providerId="LiveId" clId="{9C838C22-C32E-4DCE-B262-08D7E02A02EB}" dt="2026-02-01T18:51:15.202" v="1260" actId="1076"/>
          <ac:spMkLst>
            <pc:docMk/>
            <pc:sldMk cId="1286849947" sldId="2584"/>
            <ac:spMk id="3" creationId="{F3CDD170-4FF6-5712-ABFF-7366E4AC552C}"/>
          </ac:spMkLst>
        </pc:spChg>
        <pc:spChg chg="add mod">
          <ac:chgData name="Subhash Sahoo" userId="cbda5c0254b87e85" providerId="LiveId" clId="{9C838C22-C32E-4DCE-B262-08D7E02A02EB}" dt="2026-02-01T18:52:28.860" v="1268" actId="255"/>
          <ac:spMkLst>
            <pc:docMk/>
            <pc:sldMk cId="1286849947" sldId="2584"/>
            <ac:spMk id="4" creationId="{F2BA4599-BB61-E75F-EDEF-4650E8E15A55}"/>
          </ac:spMkLst>
        </pc:spChg>
        <pc:picChg chg="mod">
          <ac:chgData name="Subhash Sahoo" userId="cbda5c0254b87e85" providerId="LiveId" clId="{9C838C22-C32E-4DCE-B262-08D7E02A02EB}" dt="2026-02-01T18:45:23.897" v="1195" actId="48537"/>
          <ac:picMkLst>
            <pc:docMk/>
            <pc:sldMk cId="1286849947" sldId="2584"/>
            <ac:picMk id="5" creationId="{C4DB6269-DED5-494D-8CA3-3E24DC0068D0}"/>
          </ac:picMkLst>
        </pc:picChg>
      </pc:sldChg>
      <pc:sldChg chg="addSp modSp add mod modAnim">
        <pc:chgData name="Subhash Sahoo" userId="cbda5c0254b87e85" providerId="LiveId" clId="{9C838C22-C32E-4DCE-B262-08D7E02A02EB}" dt="2026-02-01T19:44:52.663" v="1775" actId="14100"/>
        <pc:sldMkLst>
          <pc:docMk/>
          <pc:sldMk cId="475992530" sldId="2585"/>
        </pc:sldMkLst>
        <pc:spChg chg="mod">
          <ac:chgData name="Subhash Sahoo" userId="cbda5c0254b87e85" providerId="LiveId" clId="{9C838C22-C32E-4DCE-B262-08D7E02A02EB}" dt="2026-02-01T19:35:07.070" v="1685" actId="14100"/>
          <ac:spMkLst>
            <pc:docMk/>
            <pc:sldMk cId="475992530" sldId="2585"/>
            <ac:spMk id="3" creationId="{A4E0E90E-DBD5-D506-C0EC-4EB8D977403E}"/>
          </ac:spMkLst>
        </pc:spChg>
        <pc:picChg chg="add mod">
          <ac:chgData name="Subhash Sahoo" userId="cbda5c0254b87e85" providerId="LiveId" clId="{9C838C22-C32E-4DCE-B262-08D7E02A02EB}" dt="2026-02-01T19:44:48.760" v="1774" actId="14100"/>
          <ac:picMkLst>
            <pc:docMk/>
            <pc:sldMk cId="475992530" sldId="2585"/>
            <ac:picMk id="4" creationId="{BA061D0A-1725-DC02-39EF-19B1A02EA469}"/>
          </ac:picMkLst>
        </pc:picChg>
        <pc:picChg chg="add mod">
          <ac:chgData name="Subhash Sahoo" userId="cbda5c0254b87e85" providerId="LiveId" clId="{9C838C22-C32E-4DCE-B262-08D7E02A02EB}" dt="2026-02-01T19:44:52.663" v="1775" actId="14100"/>
          <ac:picMkLst>
            <pc:docMk/>
            <pc:sldMk cId="475992530" sldId="2585"/>
            <ac:picMk id="7" creationId="{CACEE16C-0076-7B29-6E48-4A24254C73F4}"/>
          </ac:picMkLst>
        </pc:picChg>
      </pc:sldChg>
      <pc:sldChg chg="addSp delSp modSp add del mod delAnim">
        <pc:chgData name="Subhash Sahoo" userId="cbda5c0254b87e85" providerId="LiveId" clId="{9C838C22-C32E-4DCE-B262-08D7E02A02EB}" dt="2026-02-01T19:49:10.610" v="1819" actId="47"/>
        <pc:sldMkLst>
          <pc:docMk/>
          <pc:sldMk cId="520943584" sldId="2586"/>
        </pc:sldMkLst>
        <pc:spChg chg="del">
          <ac:chgData name="Subhash Sahoo" userId="cbda5c0254b87e85" providerId="LiveId" clId="{9C838C22-C32E-4DCE-B262-08D7E02A02EB}" dt="2026-02-01T19:36:08.540" v="1691" actId="478"/>
          <ac:spMkLst>
            <pc:docMk/>
            <pc:sldMk cId="520943584" sldId="2586"/>
            <ac:spMk id="2" creationId="{174E62D7-8AC4-144F-F76A-A90944275C03}"/>
          </ac:spMkLst>
        </pc:spChg>
        <pc:spChg chg="del">
          <ac:chgData name="Subhash Sahoo" userId="cbda5c0254b87e85" providerId="LiveId" clId="{9C838C22-C32E-4DCE-B262-08D7E02A02EB}" dt="2026-02-01T19:36:21.052" v="1694" actId="478"/>
          <ac:spMkLst>
            <pc:docMk/>
            <pc:sldMk cId="520943584" sldId="2586"/>
            <ac:spMk id="3" creationId="{BE35802C-C91D-0112-771E-184E4C848529}"/>
          </ac:spMkLst>
        </pc:spChg>
        <pc:spChg chg="add del mod">
          <ac:chgData name="Subhash Sahoo" userId="cbda5c0254b87e85" providerId="LiveId" clId="{9C838C22-C32E-4DCE-B262-08D7E02A02EB}" dt="2026-02-01T19:36:10.915" v="1692" actId="478"/>
          <ac:spMkLst>
            <pc:docMk/>
            <pc:sldMk cId="520943584" sldId="2586"/>
            <ac:spMk id="6" creationId="{F5B9EF8F-38EB-49A0-2949-9C21EF10DCAB}"/>
          </ac:spMkLst>
        </pc:spChg>
        <pc:spChg chg="del">
          <ac:chgData name="Subhash Sahoo" userId="cbda5c0254b87e85" providerId="LiveId" clId="{9C838C22-C32E-4DCE-B262-08D7E02A02EB}" dt="2026-02-01T19:36:15.871" v="1693" actId="478"/>
          <ac:spMkLst>
            <pc:docMk/>
            <pc:sldMk cId="520943584" sldId="2586"/>
            <ac:spMk id="7" creationId="{4CEFDEAE-46AA-1D2C-BA55-5AF94EC40C8F}"/>
          </ac:spMkLst>
        </pc:spChg>
        <pc:spChg chg="add mod">
          <ac:chgData name="Subhash Sahoo" userId="cbda5c0254b87e85" providerId="LiveId" clId="{9C838C22-C32E-4DCE-B262-08D7E02A02EB}" dt="2026-02-01T19:42:47.741" v="1759" actId="20577"/>
          <ac:spMkLst>
            <pc:docMk/>
            <pc:sldMk cId="520943584" sldId="2586"/>
            <ac:spMk id="9" creationId="{A115AC8E-2247-3C4C-D8ED-30CBC182FB7E}"/>
          </ac:spMkLst>
        </pc:spChg>
        <pc:spChg chg="add del mod">
          <ac:chgData name="Subhash Sahoo" userId="cbda5c0254b87e85" providerId="LiveId" clId="{9C838C22-C32E-4DCE-B262-08D7E02A02EB}" dt="2026-02-01T19:42:17.130" v="1753" actId="478"/>
          <ac:spMkLst>
            <pc:docMk/>
            <pc:sldMk cId="520943584" sldId="2586"/>
            <ac:spMk id="17" creationId="{0C5022BB-8BCC-B8CB-56E0-3115C6AC0D84}"/>
          </ac:spMkLst>
        </pc:spChg>
        <pc:picChg chg="del">
          <ac:chgData name="Subhash Sahoo" userId="cbda5c0254b87e85" providerId="LiveId" clId="{9C838C22-C32E-4DCE-B262-08D7E02A02EB}" dt="2026-02-01T19:42:10.381" v="1752" actId="478"/>
          <ac:picMkLst>
            <pc:docMk/>
            <pc:sldMk cId="520943584" sldId="2586"/>
            <ac:picMk id="5" creationId="{0DE897F9-DCA3-2887-1CC3-155399AC41F6}"/>
          </ac:picMkLst>
        </pc:picChg>
        <pc:picChg chg="add del">
          <ac:chgData name="Subhash Sahoo" userId="cbda5c0254b87e85" providerId="LiveId" clId="{9C838C22-C32E-4DCE-B262-08D7E02A02EB}" dt="2026-02-01T19:36:27.097" v="1696" actId="478"/>
          <ac:picMkLst>
            <pc:docMk/>
            <pc:sldMk cId="520943584" sldId="2586"/>
            <ac:picMk id="11" creationId="{7FE038E8-77AE-5E0D-B8EB-AE458E318950}"/>
          </ac:picMkLst>
        </pc:picChg>
        <pc:picChg chg="add del mod">
          <ac:chgData name="Subhash Sahoo" userId="cbda5c0254b87e85" providerId="LiveId" clId="{9C838C22-C32E-4DCE-B262-08D7E02A02EB}" dt="2026-02-01T19:49:01.946" v="1816" actId="21"/>
          <ac:picMkLst>
            <pc:docMk/>
            <pc:sldMk cId="520943584" sldId="2586"/>
            <ac:picMk id="13" creationId="{96C812AC-D5C8-696A-4694-A3E2E47E20F5}"/>
          </ac:picMkLst>
        </pc:picChg>
        <pc:picChg chg="add del mod">
          <ac:chgData name="Subhash Sahoo" userId="cbda5c0254b87e85" providerId="LiveId" clId="{9C838C22-C32E-4DCE-B262-08D7E02A02EB}" dt="2026-02-01T19:48:51.871" v="1813" actId="21"/>
          <ac:picMkLst>
            <pc:docMk/>
            <pc:sldMk cId="520943584" sldId="2586"/>
            <ac:picMk id="15" creationId="{031B7029-C5C9-3EE1-29D1-4D613390A3E4}"/>
          </ac:picMkLst>
        </pc:picChg>
      </pc:sldChg>
      <pc:sldChg chg="delSp modSp new del mod chgLayout">
        <pc:chgData name="Subhash Sahoo" userId="cbda5c0254b87e85" providerId="LiveId" clId="{9C838C22-C32E-4DCE-B262-08D7E02A02EB}" dt="2026-02-01T19:43:56.307" v="1766" actId="47"/>
        <pc:sldMkLst>
          <pc:docMk/>
          <pc:sldMk cId="3553085499" sldId="2587"/>
        </pc:sldMkLst>
        <pc:spChg chg="mod">
          <ac:chgData name="Subhash Sahoo" userId="cbda5c0254b87e85" providerId="LiveId" clId="{9C838C22-C32E-4DCE-B262-08D7E02A02EB}" dt="2026-02-01T19:43:48.203" v="1765" actId="26606"/>
          <ac:spMkLst>
            <pc:docMk/>
            <pc:sldMk cId="3553085499" sldId="2587"/>
            <ac:spMk id="2" creationId="{4643633D-2E0E-48F9-29C7-FAEAFCFDCEF1}"/>
          </ac:spMkLst>
        </pc:spChg>
        <pc:spChg chg="mod">
          <ac:chgData name="Subhash Sahoo" userId="cbda5c0254b87e85" providerId="LiveId" clId="{9C838C22-C32E-4DCE-B262-08D7E02A02EB}" dt="2026-02-01T19:43:48.203" v="1765" actId="26606"/>
          <ac:spMkLst>
            <pc:docMk/>
            <pc:sldMk cId="3553085499" sldId="2587"/>
            <ac:spMk id="3" creationId="{133352D1-DD90-90AE-C647-459622A5A7C2}"/>
          </ac:spMkLst>
        </pc:spChg>
        <pc:spChg chg="del mod">
          <ac:chgData name="Subhash Sahoo" userId="cbda5c0254b87e85" providerId="LiveId" clId="{9C838C22-C32E-4DCE-B262-08D7E02A02EB}" dt="2026-02-01T19:43:48.203" v="1765" actId="26606"/>
          <ac:spMkLst>
            <pc:docMk/>
            <pc:sldMk cId="3553085499" sldId="2587"/>
            <ac:spMk id="4" creationId="{439C45EA-FC92-717B-7572-4733ED69E8FE}"/>
          </ac:spMkLst>
        </pc:spChg>
      </pc:sldChg>
      <pc:sldChg chg="addSp delSp modSp new del mod modClrScheme chgLayout">
        <pc:chgData name="Subhash Sahoo" userId="cbda5c0254b87e85" providerId="LiveId" clId="{9C838C22-C32E-4DCE-B262-08D7E02A02EB}" dt="2026-02-01T19:47:14.558" v="1789" actId="47"/>
        <pc:sldMkLst>
          <pc:docMk/>
          <pc:sldMk cId="3642525314" sldId="2587"/>
        </pc:sldMkLst>
        <pc:spChg chg="mod">
          <ac:chgData name="Subhash Sahoo" userId="cbda5c0254b87e85" providerId="LiveId" clId="{9C838C22-C32E-4DCE-B262-08D7E02A02EB}" dt="2026-02-01T19:45:51.781" v="1778" actId="26606"/>
          <ac:spMkLst>
            <pc:docMk/>
            <pc:sldMk cId="3642525314" sldId="2587"/>
            <ac:spMk id="2" creationId="{74F5CEEB-24A2-8F34-78DD-D8EAE0350AAC}"/>
          </ac:spMkLst>
        </pc:spChg>
        <pc:spChg chg="add del">
          <ac:chgData name="Subhash Sahoo" userId="cbda5c0254b87e85" providerId="LiveId" clId="{9C838C22-C32E-4DCE-B262-08D7E02A02EB}" dt="2026-02-01T19:45:51.781" v="1778" actId="26606"/>
          <ac:spMkLst>
            <pc:docMk/>
            <pc:sldMk cId="3642525314" sldId="2587"/>
            <ac:spMk id="3" creationId="{20A113A6-61F1-BCA7-FE85-7A4D4980D134}"/>
          </ac:spMkLst>
        </pc:spChg>
        <pc:spChg chg="add del">
          <ac:chgData name="Subhash Sahoo" userId="cbda5c0254b87e85" providerId="LiveId" clId="{9C838C22-C32E-4DCE-B262-08D7E02A02EB}" dt="2026-02-01T19:45:51.781" v="1778" actId="26606"/>
          <ac:spMkLst>
            <pc:docMk/>
            <pc:sldMk cId="3642525314" sldId="2587"/>
            <ac:spMk id="4" creationId="{D15CB074-9149-AB38-762B-19884166A134}"/>
          </ac:spMkLst>
        </pc:spChg>
        <pc:graphicFrameChg chg="add del mod">
          <ac:chgData name="Subhash Sahoo" userId="cbda5c0254b87e85" providerId="LiveId" clId="{9C838C22-C32E-4DCE-B262-08D7E02A02EB}" dt="2026-02-01T19:45:51.781" v="1778" actId="26606"/>
          <ac:graphicFrameMkLst>
            <pc:docMk/>
            <pc:sldMk cId="3642525314" sldId="2587"/>
            <ac:graphicFrameMk id="6" creationId="{20A113A6-61F1-BCA7-FE85-7A4D4980D134}"/>
          </ac:graphicFrameMkLst>
        </pc:graphicFrameChg>
      </pc:sldChg>
      <pc:sldChg chg="new del">
        <pc:chgData name="Subhash Sahoo" userId="cbda5c0254b87e85" providerId="LiveId" clId="{9C838C22-C32E-4DCE-B262-08D7E02A02EB}" dt="2026-02-01T19:47:11.546" v="1788" actId="47"/>
        <pc:sldMkLst>
          <pc:docMk/>
          <pc:sldMk cId="782740102" sldId="2588"/>
        </pc:sldMkLst>
      </pc:sldChg>
      <pc:sldChg chg="addSp delSp modSp new mod ord">
        <pc:chgData name="Subhash Sahoo" userId="cbda5c0254b87e85" providerId="LiveId" clId="{9C838C22-C32E-4DCE-B262-08D7E02A02EB}" dt="2026-02-01T19:49:07.793" v="1818" actId="1076"/>
        <pc:sldMkLst>
          <pc:docMk/>
          <pc:sldMk cId="1626724820" sldId="2589"/>
        </pc:sldMkLst>
        <pc:spChg chg="del">
          <ac:chgData name="Subhash Sahoo" userId="cbda5c0254b87e85" providerId="LiveId" clId="{9C838C22-C32E-4DCE-B262-08D7E02A02EB}" dt="2026-02-01T19:46:54.230" v="1785" actId="478"/>
          <ac:spMkLst>
            <pc:docMk/>
            <pc:sldMk cId="1626724820" sldId="2589"/>
            <ac:spMk id="2" creationId="{B6ADAD5D-6824-8A69-289D-7F589E646C96}"/>
          </ac:spMkLst>
        </pc:spChg>
        <pc:spChg chg="del mod">
          <ac:chgData name="Subhash Sahoo" userId="cbda5c0254b87e85" providerId="LiveId" clId="{9C838C22-C32E-4DCE-B262-08D7E02A02EB}" dt="2026-02-01T19:47:06.532" v="1787" actId="478"/>
          <ac:spMkLst>
            <pc:docMk/>
            <pc:sldMk cId="1626724820" sldId="2589"/>
            <ac:spMk id="3" creationId="{E481C3AC-D8B8-DA89-27E4-234C769CB256}"/>
          </ac:spMkLst>
        </pc:spChg>
        <pc:spChg chg="add mod">
          <ac:chgData name="Subhash Sahoo" userId="cbda5c0254b87e85" providerId="LiveId" clId="{9C838C22-C32E-4DCE-B262-08D7E02A02EB}" dt="2026-02-01T19:48:03.228" v="1797" actId="14100"/>
          <ac:spMkLst>
            <pc:docMk/>
            <pc:sldMk cId="1626724820" sldId="2589"/>
            <ac:spMk id="5" creationId="{90946CF1-5CFD-27C7-95FD-970BBBC69EB8}"/>
          </ac:spMkLst>
        </pc:spChg>
        <pc:spChg chg="add mod">
          <ac:chgData name="Subhash Sahoo" userId="cbda5c0254b87e85" providerId="LiveId" clId="{9C838C22-C32E-4DCE-B262-08D7E02A02EB}" dt="2026-02-01T19:48:45.851" v="1812" actId="20577"/>
          <ac:spMkLst>
            <pc:docMk/>
            <pc:sldMk cId="1626724820" sldId="2589"/>
            <ac:spMk id="6" creationId="{CC3AC2D7-9FE0-D5D0-7CE0-1012C0C4F44C}"/>
          </ac:spMkLst>
        </pc:spChg>
        <pc:picChg chg="add mod">
          <ac:chgData name="Subhash Sahoo" userId="cbda5c0254b87e85" providerId="LiveId" clId="{9C838C22-C32E-4DCE-B262-08D7E02A02EB}" dt="2026-02-01T19:49:07.793" v="1818" actId="1076"/>
          <ac:picMkLst>
            <pc:docMk/>
            <pc:sldMk cId="1626724820" sldId="2589"/>
            <ac:picMk id="13" creationId="{96C812AC-D5C8-696A-4694-A3E2E47E20F5}"/>
          </ac:picMkLst>
        </pc:picChg>
        <pc:picChg chg="add mod">
          <ac:chgData name="Subhash Sahoo" userId="cbda5c0254b87e85" providerId="LiveId" clId="{9C838C22-C32E-4DCE-B262-08D7E02A02EB}" dt="2026-02-01T19:48:59.436" v="1815" actId="1076"/>
          <ac:picMkLst>
            <pc:docMk/>
            <pc:sldMk cId="1626724820" sldId="2589"/>
            <ac:picMk id="15" creationId="{031B7029-C5C9-3EE1-29D1-4D613390A3E4}"/>
          </ac:picMkLst>
        </pc:picChg>
      </pc:sldChg>
      <pc:sldChg chg="new del">
        <pc:chgData name="Subhash Sahoo" userId="cbda5c0254b87e85" providerId="LiveId" clId="{9C838C22-C32E-4DCE-B262-08D7E02A02EB}" dt="2026-02-01T19:46:24.340" v="1781" actId="680"/>
        <pc:sldMkLst>
          <pc:docMk/>
          <pc:sldMk cId="1971662772" sldId="2589"/>
        </pc:sldMkLst>
      </pc:sldChg>
      <pc:sldChg chg="new del">
        <pc:chgData name="Subhash Sahoo" userId="cbda5c0254b87e85" providerId="LiveId" clId="{9C838C22-C32E-4DCE-B262-08D7E02A02EB}" dt="2026-02-01T19:46:41.406" v="1783" actId="680"/>
        <pc:sldMkLst>
          <pc:docMk/>
          <pc:sldMk cId="2018851168" sldId="2589"/>
        </pc:sldMkLst>
      </pc:sldChg>
      <pc:sldChg chg="add del">
        <pc:chgData name="Subhash Sahoo" userId="cbda5c0254b87e85" providerId="LiveId" clId="{9C838C22-C32E-4DCE-B262-08D7E02A02EB}" dt="2026-02-01T19:49:34.382" v="1822" actId="47"/>
        <pc:sldMkLst>
          <pc:docMk/>
          <pc:sldMk cId="1289143451" sldId="2590"/>
        </pc:sldMkLst>
      </pc:sldChg>
      <pc:sldChg chg="addSp delSp modSp new mod ord">
        <pc:chgData name="Subhash Sahoo" userId="cbda5c0254b87e85" providerId="LiveId" clId="{9C838C22-C32E-4DCE-B262-08D7E02A02EB}" dt="2026-02-01T19:51:02.135" v="1853" actId="14100"/>
        <pc:sldMkLst>
          <pc:docMk/>
          <pc:sldMk cId="3381308302" sldId="2591"/>
        </pc:sldMkLst>
        <pc:spChg chg="del">
          <ac:chgData name="Subhash Sahoo" userId="cbda5c0254b87e85" providerId="LiveId" clId="{9C838C22-C32E-4DCE-B262-08D7E02A02EB}" dt="2026-02-01T19:49:39.914" v="1823" actId="478"/>
          <ac:spMkLst>
            <pc:docMk/>
            <pc:sldMk cId="3381308302" sldId="2591"/>
            <ac:spMk id="2" creationId="{32804DB2-414D-D04E-F08D-11AF37A0A3E0}"/>
          </ac:spMkLst>
        </pc:spChg>
        <pc:spChg chg="mod">
          <ac:chgData name="Subhash Sahoo" userId="cbda5c0254b87e85" providerId="LiveId" clId="{9C838C22-C32E-4DCE-B262-08D7E02A02EB}" dt="2026-02-01T19:50:08.645" v="1849" actId="20577"/>
          <ac:spMkLst>
            <pc:docMk/>
            <pc:sldMk cId="3381308302" sldId="2591"/>
            <ac:spMk id="3" creationId="{6C5EDD24-2609-BE65-808F-CF9DC148E5B4}"/>
          </ac:spMkLst>
        </pc:spChg>
        <pc:picChg chg="add mod">
          <ac:chgData name="Subhash Sahoo" userId="cbda5c0254b87e85" providerId="LiveId" clId="{9C838C22-C32E-4DCE-B262-08D7E02A02EB}" dt="2026-02-01T19:51:02.135" v="1853" actId="14100"/>
          <ac:picMkLst>
            <pc:docMk/>
            <pc:sldMk cId="3381308302" sldId="2591"/>
            <ac:picMk id="5" creationId="{01E1032A-2B1C-C80C-E9CA-C7FBA992E80A}"/>
          </ac:picMkLst>
        </pc:picChg>
      </pc:sldChg>
      <pc:sldChg chg="addSp delSp modSp new mod ord modClrScheme chgLayout">
        <pc:chgData name="Subhash Sahoo" userId="cbda5c0254b87e85" providerId="LiveId" clId="{9C838C22-C32E-4DCE-B262-08D7E02A02EB}" dt="2026-02-01T20:07:47.302" v="1964" actId="12"/>
        <pc:sldMkLst>
          <pc:docMk/>
          <pc:sldMk cId="453008857" sldId="2592"/>
        </pc:sldMkLst>
        <pc:spChg chg="mod">
          <ac:chgData name="Subhash Sahoo" userId="cbda5c0254b87e85" providerId="LiveId" clId="{9C838C22-C32E-4DCE-B262-08D7E02A02EB}" dt="2026-02-01T20:06:58.279" v="1954" actId="26606"/>
          <ac:spMkLst>
            <pc:docMk/>
            <pc:sldMk cId="453008857" sldId="2592"/>
            <ac:spMk id="2" creationId="{47C825AA-587F-0FBD-1802-B1E6967F9F65}"/>
          </ac:spMkLst>
        </pc:spChg>
        <pc:spChg chg="del">
          <ac:chgData name="Subhash Sahoo" userId="cbda5c0254b87e85" providerId="LiveId" clId="{9C838C22-C32E-4DCE-B262-08D7E02A02EB}" dt="2026-02-01T20:05:36.200" v="1936" actId="26606"/>
          <ac:spMkLst>
            <pc:docMk/>
            <pc:sldMk cId="453008857" sldId="2592"/>
            <ac:spMk id="3" creationId="{4BDF835D-0EC4-068F-124A-A62789F6125C}"/>
          </ac:spMkLst>
        </pc:spChg>
        <pc:spChg chg="add mod ord">
          <ac:chgData name="Subhash Sahoo" userId="cbda5c0254b87e85" providerId="LiveId" clId="{9C838C22-C32E-4DCE-B262-08D7E02A02EB}" dt="2026-02-01T20:07:47.302" v="1964" actId="12"/>
          <ac:spMkLst>
            <pc:docMk/>
            <pc:sldMk cId="453008857" sldId="2592"/>
            <ac:spMk id="9" creationId="{85E4549F-BA6A-E650-A557-1C15C26A7E6A}"/>
          </ac:spMkLst>
        </pc:spChg>
        <pc:picChg chg="add mod">
          <ac:chgData name="Subhash Sahoo" userId="cbda5c0254b87e85" providerId="LiveId" clId="{9C838C22-C32E-4DCE-B262-08D7E02A02EB}" dt="2026-02-01T20:06:58.279" v="1954" actId="26606"/>
          <ac:picMkLst>
            <pc:docMk/>
            <pc:sldMk cId="453008857" sldId="2592"/>
            <ac:picMk id="5" creationId="{4F246F26-7C02-FDA9-2685-B5E17BB9AFB5}"/>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B121FFA-1A86-408A-8EB8-7BC44685560F}"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E24B2489-A1CC-4121-8328-100097902DD0}">
      <dgm:prSet/>
      <dgm:spPr/>
      <dgm:t>
        <a:bodyPr/>
        <a:lstStyle/>
        <a:p>
          <a:pPr>
            <a:lnSpc>
              <a:spcPct val="100000"/>
            </a:lnSpc>
            <a:defRPr b="1"/>
          </a:pPr>
          <a:r>
            <a:rPr lang="en-US"/>
            <a:t>Unveiling Data Patterns</a:t>
          </a:r>
        </a:p>
      </dgm:t>
    </dgm:pt>
    <dgm:pt modelId="{8A8FAB04-21CB-431C-8A0A-37E1E7DE8F32}" type="parTrans" cxnId="{69B4D46D-5A6B-4F26-9FC2-1EDBBA7549AB}">
      <dgm:prSet/>
      <dgm:spPr/>
      <dgm:t>
        <a:bodyPr/>
        <a:lstStyle/>
        <a:p>
          <a:endParaRPr lang="en-US"/>
        </a:p>
      </dgm:t>
    </dgm:pt>
    <dgm:pt modelId="{3FA301AE-179C-4217-AEEC-19C1CE0F093F}" type="sibTrans" cxnId="{69B4D46D-5A6B-4F26-9FC2-1EDBBA7549AB}">
      <dgm:prSet/>
      <dgm:spPr/>
      <dgm:t>
        <a:bodyPr/>
        <a:lstStyle/>
        <a:p>
          <a:pPr>
            <a:lnSpc>
              <a:spcPct val="100000"/>
            </a:lnSpc>
            <a:defRPr b="1"/>
          </a:pPr>
          <a:endParaRPr lang="en-US"/>
        </a:p>
      </dgm:t>
    </dgm:pt>
    <dgm:pt modelId="{14FE711F-9A84-4AF8-AC74-1235DBF55934}">
      <dgm:prSet/>
      <dgm:spPr/>
      <dgm:t>
        <a:bodyPr/>
        <a:lstStyle/>
        <a:p>
          <a:pPr>
            <a:lnSpc>
              <a:spcPct val="100000"/>
            </a:lnSpc>
          </a:pPr>
          <a:r>
            <a:rPr lang="en-US"/>
            <a:t>EDA helps identify trends and patterns in property data that are critical for pricing strategies.</a:t>
          </a:r>
        </a:p>
      </dgm:t>
    </dgm:pt>
    <dgm:pt modelId="{63EBE4FB-1C1D-4BB8-8A98-49E6EE2ECF61}" type="parTrans" cxnId="{6A0BE989-8485-42D5-82E4-51F240A74D03}">
      <dgm:prSet/>
      <dgm:spPr/>
      <dgm:t>
        <a:bodyPr/>
        <a:lstStyle/>
        <a:p>
          <a:endParaRPr lang="en-US"/>
        </a:p>
      </dgm:t>
    </dgm:pt>
    <dgm:pt modelId="{EEA7297F-C828-4A1D-8CC2-B4015E8B1DC0}" type="sibTrans" cxnId="{6A0BE989-8485-42D5-82E4-51F240A74D03}">
      <dgm:prSet/>
      <dgm:spPr/>
      <dgm:t>
        <a:bodyPr/>
        <a:lstStyle/>
        <a:p>
          <a:endParaRPr lang="en-US"/>
        </a:p>
      </dgm:t>
    </dgm:pt>
    <dgm:pt modelId="{0D5FFE3D-3472-4637-B512-BD40DFA40A48}">
      <dgm:prSet/>
      <dgm:spPr/>
      <dgm:t>
        <a:bodyPr/>
        <a:lstStyle/>
        <a:p>
          <a:pPr>
            <a:lnSpc>
              <a:spcPct val="100000"/>
            </a:lnSpc>
            <a:defRPr b="1"/>
          </a:pPr>
          <a:r>
            <a:rPr lang="en-US"/>
            <a:t>Enhancing Predictive Models</a:t>
          </a:r>
        </a:p>
      </dgm:t>
    </dgm:pt>
    <dgm:pt modelId="{BA51DC4F-BE74-47DF-B155-DFC5716C4EE5}" type="parTrans" cxnId="{C4BF024E-D221-402D-AC86-0ED3B965F79D}">
      <dgm:prSet/>
      <dgm:spPr/>
      <dgm:t>
        <a:bodyPr/>
        <a:lstStyle/>
        <a:p>
          <a:endParaRPr lang="en-US"/>
        </a:p>
      </dgm:t>
    </dgm:pt>
    <dgm:pt modelId="{3A6C0868-76C0-442D-9949-4185D4AC2FA9}" type="sibTrans" cxnId="{C4BF024E-D221-402D-AC86-0ED3B965F79D}">
      <dgm:prSet/>
      <dgm:spPr/>
      <dgm:t>
        <a:bodyPr/>
        <a:lstStyle/>
        <a:p>
          <a:pPr>
            <a:lnSpc>
              <a:spcPct val="100000"/>
            </a:lnSpc>
            <a:defRPr b="1"/>
          </a:pPr>
          <a:endParaRPr lang="en-US"/>
        </a:p>
      </dgm:t>
    </dgm:pt>
    <dgm:pt modelId="{AC7E1344-E7FB-4DD8-93B9-48F44A51E22F}">
      <dgm:prSet/>
      <dgm:spPr/>
      <dgm:t>
        <a:bodyPr/>
        <a:lstStyle/>
        <a:p>
          <a:pPr>
            <a:lnSpc>
              <a:spcPct val="100000"/>
            </a:lnSpc>
          </a:pPr>
          <a:r>
            <a:rPr lang="en-US"/>
            <a:t>Insights from EDA improve the accuracy of predictive models for property price forecasting.</a:t>
          </a:r>
        </a:p>
      </dgm:t>
    </dgm:pt>
    <dgm:pt modelId="{45221C36-117C-4016-BFF1-04A5701E85A9}" type="parTrans" cxnId="{5C1324EF-34AC-4D81-9E57-DDBBFF7C1AE3}">
      <dgm:prSet/>
      <dgm:spPr/>
      <dgm:t>
        <a:bodyPr/>
        <a:lstStyle/>
        <a:p>
          <a:endParaRPr lang="en-US"/>
        </a:p>
      </dgm:t>
    </dgm:pt>
    <dgm:pt modelId="{92972272-8D26-4320-8EB1-5E0123B17126}" type="sibTrans" cxnId="{5C1324EF-34AC-4D81-9E57-DDBBFF7C1AE3}">
      <dgm:prSet/>
      <dgm:spPr/>
      <dgm:t>
        <a:bodyPr/>
        <a:lstStyle/>
        <a:p>
          <a:endParaRPr lang="en-US"/>
        </a:p>
      </dgm:t>
    </dgm:pt>
    <dgm:pt modelId="{92FD9638-5444-4AD8-9E81-8A5AD2127B38}">
      <dgm:prSet/>
      <dgm:spPr/>
      <dgm:t>
        <a:bodyPr/>
        <a:lstStyle/>
        <a:p>
          <a:pPr>
            <a:lnSpc>
              <a:spcPct val="100000"/>
            </a:lnSpc>
            <a:defRPr b="1"/>
          </a:pPr>
          <a:r>
            <a:rPr lang="en-US"/>
            <a:t>Supporting Informed Decisions</a:t>
          </a:r>
        </a:p>
      </dgm:t>
    </dgm:pt>
    <dgm:pt modelId="{4880E32F-2246-4665-9873-0F897DA16323}" type="parTrans" cxnId="{2A250DD4-A286-462C-930B-5BFE0E231A45}">
      <dgm:prSet/>
      <dgm:spPr/>
      <dgm:t>
        <a:bodyPr/>
        <a:lstStyle/>
        <a:p>
          <a:endParaRPr lang="en-US"/>
        </a:p>
      </dgm:t>
    </dgm:pt>
    <dgm:pt modelId="{B84615CD-63B9-40CD-A29A-5CA6C379029D}" type="sibTrans" cxnId="{2A250DD4-A286-462C-930B-5BFE0E231A45}">
      <dgm:prSet/>
      <dgm:spPr/>
      <dgm:t>
        <a:bodyPr/>
        <a:lstStyle/>
        <a:p>
          <a:endParaRPr lang="en-US"/>
        </a:p>
      </dgm:t>
    </dgm:pt>
    <dgm:pt modelId="{5637F6F7-CDEA-41D0-AB7D-79E95B6705A5}">
      <dgm:prSet/>
      <dgm:spPr/>
      <dgm:t>
        <a:bodyPr/>
        <a:lstStyle/>
        <a:p>
          <a:pPr>
            <a:lnSpc>
              <a:spcPct val="100000"/>
            </a:lnSpc>
          </a:pPr>
          <a:r>
            <a:rPr lang="en-US"/>
            <a:t>EDA enables buyers, sellers, and analysts to make data-driven and confident real estate decisions.</a:t>
          </a:r>
        </a:p>
      </dgm:t>
    </dgm:pt>
    <dgm:pt modelId="{141AB2B4-4EB5-4FA0-A8B7-88A8D8035FBE}" type="parTrans" cxnId="{18576A52-F747-476D-B619-359D9BAB5B90}">
      <dgm:prSet/>
      <dgm:spPr/>
      <dgm:t>
        <a:bodyPr/>
        <a:lstStyle/>
        <a:p>
          <a:endParaRPr lang="en-US"/>
        </a:p>
      </dgm:t>
    </dgm:pt>
    <dgm:pt modelId="{FA4E99BE-2872-4EC0-B929-B3300C87A6EC}" type="sibTrans" cxnId="{18576A52-F747-476D-B619-359D9BAB5B90}">
      <dgm:prSet/>
      <dgm:spPr/>
      <dgm:t>
        <a:bodyPr/>
        <a:lstStyle/>
        <a:p>
          <a:endParaRPr lang="en-US"/>
        </a:p>
      </dgm:t>
    </dgm:pt>
    <dgm:pt modelId="{C3F0C4B5-3EF8-494B-99E8-10563E2DE3D8}" type="pres">
      <dgm:prSet presAssocID="{CB121FFA-1A86-408A-8EB8-7BC44685560F}" presName="Name0" presStyleCnt="0">
        <dgm:presLayoutVars>
          <dgm:dir/>
          <dgm:resizeHandles val="exact"/>
        </dgm:presLayoutVars>
      </dgm:prSet>
      <dgm:spPr/>
    </dgm:pt>
    <dgm:pt modelId="{5B28D5FE-BC50-47F8-902F-B24E866EAFC6}" type="pres">
      <dgm:prSet presAssocID="{E24B2489-A1CC-4121-8328-100097902DD0}" presName="compNode" presStyleCnt="0"/>
      <dgm:spPr/>
    </dgm:pt>
    <dgm:pt modelId="{F870C57E-2FD7-425C-A802-7824AE71E521}" type="pres">
      <dgm:prSet presAssocID="{E24B2489-A1CC-4121-8328-100097902DD0}" presName="pictRect" presStyleLbl="revTx" presStyleIdx="0" presStyleCnt="6">
        <dgm:presLayoutVars>
          <dgm:chMax val="0"/>
          <dgm:bulletEnabled/>
        </dgm:presLayoutVars>
      </dgm:prSet>
      <dgm:spPr/>
    </dgm:pt>
    <dgm:pt modelId="{C67AFBFC-B3B7-44D0-95C1-B12BB73F2AB4}" type="pres">
      <dgm:prSet presAssocID="{E24B2489-A1CC-4121-8328-100097902DD0}" presName="textRect" presStyleLbl="revTx" presStyleIdx="1" presStyleCnt="6">
        <dgm:presLayoutVars>
          <dgm:bulletEnabled/>
        </dgm:presLayoutVars>
      </dgm:prSet>
      <dgm:spPr/>
    </dgm:pt>
    <dgm:pt modelId="{32E2A211-4B10-400D-BE97-C2F96D62A36D}" type="pres">
      <dgm:prSet presAssocID="{3FA301AE-179C-4217-AEEC-19C1CE0F093F}" presName="sibTrans" presStyleLbl="sibTrans2D1" presStyleIdx="0" presStyleCnt="0"/>
      <dgm:spPr/>
    </dgm:pt>
    <dgm:pt modelId="{C909BC0D-E7FE-4E9E-BE5B-BD30118221C6}" type="pres">
      <dgm:prSet presAssocID="{0D5FFE3D-3472-4637-B512-BD40DFA40A48}" presName="compNode" presStyleCnt="0"/>
      <dgm:spPr/>
    </dgm:pt>
    <dgm:pt modelId="{5B19BF6A-CE17-48BE-BAD9-0AE0CA490CC5}" type="pres">
      <dgm:prSet presAssocID="{0D5FFE3D-3472-4637-B512-BD40DFA40A48}" presName="pictRect" presStyleLbl="revTx" presStyleIdx="2" presStyleCnt="6">
        <dgm:presLayoutVars>
          <dgm:chMax val="0"/>
          <dgm:bulletEnabled/>
        </dgm:presLayoutVars>
      </dgm:prSet>
      <dgm:spPr/>
    </dgm:pt>
    <dgm:pt modelId="{D17DC54B-A72C-4A11-ABF4-BD55507FC0FC}" type="pres">
      <dgm:prSet presAssocID="{0D5FFE3D-3472-4637-B512-BD40DFA40A48}" presName="textRect" presStyleLbl="revTx" presStyleIdx="3" presStyleCnt="6">
        <dgm:presLayoutVars>
          <dgm:bulletEnabled/>
        </dgm:presLayoutVars>
      </dgm:prSet>
      <dgm:spPr/>
    </dgm:pt>
    <dgm:pt modelId="{F1F26A39-5042-4441-BC6F-8081C1026061}" type="pres">
      <dgm:prSet presAssocID="{3A6C0868-76C0-442D-9949-4185D4AC2FA9}" presName="sibTrans" presStyleLbl="sibTrans2D1" presStyleIdx="0" presStyleCnt="0"/>
      <dgm:spPr/>
    </dgm:pt>
    <dgm:pt modelId="{26AAF315-E786-47FC-B628-05DA32F7C525}" type="pres">
      <dgm:prSet presAssocID="{92FD9638-5444-4AD8-9E81-8A5AD2127B38}" presName="compNode" presStyleCnt="0"/>
      <dgm:spPr/>
    </dgm:pt>
    <dgm:pt modelId="{2562809A-5867-4131-8454-DEFD705C9BD7}" type="pres">
      <dgm:prSet presAssocID="{92FD9638-5444-4AD8-9E81-8A5AD2127B38}" presName="pictRect" presStyleLbl="revTx" presStyleIdx="4" presStyleCnt="6">
        <dgm:presLayoutVars>
          <dgm:chMax val="0"/>
          <dgm:bulletEnabled/>
        </dgm:presLayoutVars>
      </dgm:prSet>
      <dgm:spPr/>
    </dgm:pt>
    <dgm:pt modelId="{AABEB64A-593D-4758-826E-C1E886943BCD}" type="pres">
      <dgm:prSet presAssocID="{92FD9638-5444-4AD8-9E81-8A5AD2127B38}" presName="textRect" presStyleLbl="revTx" presStyleIdx="5" presStyleCnt="6">
        <dgm:presLayoutVars>
          <dgm:bulletEnabled/>
        </dgm:presLayoutVars>
      </dgm:prSet>
      <dgm:spPr/>
    </dgm:pt>
  </dgm:ptLst>
  <dgm:cxnLst>
    <dgm:cxn modelId="{AC592218-D326-495A-B06C-D409A9A05411}" type="presOf" srcId="{3FA301AE-179C-4217-AEEC-19C1CE0F093F}" destId="{32E2A211-4B10-400D-BE97-C2F96D62A36D}" srcOrd="0" destOrd="0" presId="urn:microsoft.com/office/officeart/2024/3/layout/hArchList1"/>
    <dgm:cxn modelId="{304BF025-32BF-4CDE-87B8-DFB32BCFC3DC}" type="presOf" srcId="{CB121FFA-1A86-408A-8EB8-7BC44685560F}" destId="{C3F0C4B5-3EF8-494B-99E8-10563E2DE3D8}" srcOrd="0" destOrd="0" presId="urn:microsoft.com/office/officeart/2024/3/layout/hArchList1"/>
    <dgm:cxn modelId="{9AF6526B-B465-4C28-A7A8-34C8D3C10C49}" type="presOf" srcId="{AC7E1344-E7FB-4DD8-93B9-48F44A51E22F}" destId="{D17DC54B-A72C-4A11-ABF4-BD55507FC0FC}" srcOrd="0" destOrd="0" presId="urn:microsoft.com/office/officeart/2024/3/layout/hArchList1"/>
    <dgm:cxn modelId="{69B4D46D-5A6B-4F26-9FC2-1EDBBA7549AB}" srcId="{CB121FFA-1A86-408A-8EB8-7BC44685560F}" destId="{E24B2489-A1CC-4121-8328-100097902DD0}" srcOrd="0" destOrd="0" parTransId="{8A8FAB04-21CB-431C-8A0A-37E1E7DE8F32}" sibTransId="{3FA301AE-179C-4217-AEEC-19C1CE0F093F}"/>
    <dgm:cxn modelId="{C4BF024E-D221-402D-AC86-0ED3B965F79D}" srcId="{CB121FFA-1A86-408A-8EB8-7BC44685560F}" destId="{0D5FFE3D-3472-4637-B512-BD40DFA40A48}" srcOrd="1" destOrd="0" parTransId="{BA51DC4F-BE74-47DF-B155-DFC5716C4EE5}" sibTransId="{3A6C0868-76C0-442D-9949-4185D4AC2FA9}"/>
    <dgm:cxn modelId="{6E9E3D6E-2B9C-4297-A142-0CD78FA5D7E1}" type="presOf" srcId="{3A6C0868-76C0-442D-9949-4185D4AC2FA9}" destId="{F1F26A39-5042-4441-BC6F-8081C1026061}" srcOrd="0" destOrd="0" presId="urn:microsoft.com/office/officeart/2024/3/layout/hArchList1"/>
    <dgm:cxn modelId="{583EC44E-D116-422D-A1DF-B0C308395302}" type="presOf" srcId="{5637F6F7-CDEA-41D0-AB7D-79E95B6705A5}" destId="{AABEB64A-593D-4758-826E-C1E886943BCD}" srcOrd="0" destOrd="0" presId="urn:microsoft.com/office/officeart/2024/3/layout/hArchList1"/>
    <dgm:cxn modelId="{18576A52-F747-476D-B619-359D9BAB5B90}" srcId="{92FD9638-5444-4AD8-9E81-8A5AD2127B38}" destId="{5637F6F7-CDEA-41D0-AB7D-79E95B6705A5}" srcOrd="0" destOrd="0" parTransId="{141AB2B4-4EB5-4FA0-A8B7-88A8D8035FBE}" sibTransId="{FA4E99BE-2872-4EC0-B929-B3300C87A6EC}"/>
    <dgm:cxn modelId="{94D08E88-921E-46A1-9087-99602B5DDEE2}" type="presOf" srcId="{E24B2489-A1CC-4121-8328-100097902DD0}" destId="{F870C57E-2FD7-425C-A802-7824AE71E521}" srcOrd="0" destOrd="0" presId="urn:microsoft.com/office/officeart/2024/3/layout/hArchList1"/>
    <dgm:cxn modelId="{6A0BE989-8485-42D5-82E4-51F240A74D03}" srcId="{E24B2489-A1CC-4121-8328-100097902DD0}" destId="{14FE711F-9A84-4AF8-AC74-1235DBF55934}" srcOrd="0" destOrd="0" parTransId="{63EBE4FB-1C1D-4BB8-8A98-49E6EE2ECF61}" sibTransId="{EEA7297F-C828-4A1D-8CC2-B4015E8B1DC0}"/>
    <dgm:cxn modelId="{9788B7A1-2720-4A6E-90EF-23234341D014}" type="presOf" srcId="{14FE711F-9A84-4AF8-AC74-1235DBF55934}" destId="{C67AFBFC-B3B7-44D0-95C1-B12BB73F2AB4}" srcOrd="0" destOrd="0" presId="urn:microsoft.com/office/officeart/2024/3/layout/hArchList1"/>
    <dgm:cxn modelId="{2A250DD4-A286-462C-930B-5BFE0E231A45}" srcId="{CB121FFA-1A86-408A-8EB8-7BC44685560F}" destId="{92FD9638-5444-4AD8-9E81-8A5AD2127B38}" srcOrd="2" destOrd="0" parTransId="{4880E32F-2246-4665-9873-0F897DA16323}" sibTransId="{B84615CD-63B9-40CD-A29A-5CA6C379029D}"/>
    <dgm:cxn modelId="{3021BDD6-3E9E-4D50-B9AE-61D0E440284C}" type="presOf" srcId="{0D5FFE3D-3472-4637-B512-BD40DFA40A48}" destId="{5B19BF6A-CE17-48BE-BAD9-0AE0CA490CC5}" srcOrd="0" destOrd="0" presId="urn:microsoft.com/office/officeart/2024/3/layout/hArchList1"/>
    <dgm:cxn modelId="{49FFA0E2-1269-4645-9F06-99F9A523B58C}" type="presOf" srcId="{92FD9638-5444-4AD8-9E81-8A5AD2127B38}" destId="{2562809A-5867-4131-8454-DEFD705C9BD7}" srcOrd="0" destOrd="0" presId="urn:microsoft.com/office/officeart/2024/3/layout/hArchList1"/>
    <dgm:cxn modelId="{5C1324EF-34AC-4D81-9E57-DDBBFF7C1AE3}" srcId="{0D5FFE3D-3472-4637-B512-BD40DFA40A48}" destId="{AC7E1344-E7FB-4DD8-93B9-48F44A51E22F}" srcOrd="0" destOrd="0" parTransId="{45221C36-117C-4016-BFF1-04A5701E85A9}" sibTransId="{92972272-8D26-4320-8EB1-5E0123B17126}"/>
    <dgm:cxn modelId="{EEEC536C-EF5D-4C0A-B886-739DDD202402}" type="presParOf" srcId="{C3F0C4B5-3EF8-494B-99E8-10563E2DE3D8}" destId="{5B28D5FE-BC50-47F8-902F-B24E866EAFC6}" srcOrd="0" destOrd="0" presId="urn:microsoft.com/office/officeart/2024/3/layout/hArchList1"/>
    <dgm:cxn modelId="{E1533493-5A67-4B53-ADFE-12BEEACE905B}" type="presParOf" srcId="{5B28D5FE-BC50-47F8-902F-B24E866EAFC6}" destId="{F870C57E-2FD7-425C-A802-7824AE71E521}" srcOrd="0" destOrd="0" presId="urn:microsoft.com/office/officeart/2024/3/layout/hArchList1"/>
    <dgm:cxn modelId="{39A1C521-2F13-4E94-907B-017048EAC7CD}" type="presParOf" srcId="{5B28D5FE-BC50-47F8-902F-B24E866EAFC6}" destId="{C67AFBFC-B3B7-44D0-95C1-B12BB73F2AB4}" srcOrd="1" destOrd="0" presId="urn:microsoft.com/office/officeart/2024/3/layout/hArchList1"/>
    <dgm:cxn modelId="{0DE67C9A-C6F7-4BBF-948A-613149B6CFEB}" type="presParOf" srcId="{C3F0C4B5-3EF8-494B-99E8-10563E2DE3D8}" destId="{32E2A211-4B10-400D-BE97-C2F96D62A36D}" srcOrd="1" destOrd="0" presId="urn:microsoft.com/office/officeart/2024/3/layout/hArchList1"/>
    <dgm:cxn modelId="{12B9F574-F2B4-45AF-B658-C628F4D3AF44}" type="presParOf" srcId="{C3F0C4B5-3EF8-494B-99E8-10563E2DE3D8}" destId="{C909BC0D-E7FE-4E9E-BE5B-BD30118221C6}" srcOrd="2" destOrd="0" presId="urn:microsoft.com/office/officeart/2024/3/layout/hArchList1"/>
    <dgm:cxn modelId="{46EFF253-06C5-4541-B83C-39D63FFFD019}" type="presParOf" srcId="{C909BC0D-E7FE-4E9E-BE5B-BD30118221C6}" destId="{5B19BF6A-CE17-48BE-BAD9-0AE0CA490CC5}" srcOrd="0" destOrd="0" presId="urn:microsoft.com/office/officeart/2024/3/layout/hArchList1"/>
    <dgm:cxn modelId="{55216DC9-FD86-4E74-9693-66D00FEC2C49}" type="presParOf" srcId="{C909BC0D-E7FE-4E9E-BE5B-BD30118221C6}" destId="{D17DC54B-A72C-4A11-ABF4-BD55507FC0FC}" srcOrd="1" destOrd="0" presId="urn:microsoft.com/office/officeart/2024/3/layout/hArchList1"/>
    <dgm:cxn modelId="{9510EC59-E41C-45F8-8DB9-68CC1814EAD0}" type="presParOf" srcId="{C3F0C4B5-3EF8-494B-99E8-10563E2DE3D8}" destId="{F1F26A39-5042-4441-BC6F-8081C1026061}" srcOrd="3" destOrd="0" presId="urn:microsoft.com/office/officeart/2024/3/layout/hArchList1"/>
    <dgm:cxn modelId="{5CCBE0A9-A6B6-43C6-8E73-58808923A22C}" type="presParOf" srcId="{C3F0C4B5-3EF8-494B-99E8-10563E2DE3D8}" destId="{26AAF315-E786-47FC-B628-05DA32F7C525}" srcOrd="4" destOrd="0" presId="urn:microsoft.com/office/officeart/2024/3/layout/hArchList1"/>
    <dgm:cxn modelId="{884AC516-F74F-42A3-B60B-987C7E9116BD}" type="presParOf" srcId="{26AAF315-E786-47FC-B628-05DA32F7C525}" destId="{2562809A-5867-4131-8454-DEFD705C9BD7}" srcOrd="0" destOrd="0" presId="urn:microsoft.com/office/officeart/2024/3/layout/hArchList1"/>
    <dgm:cxn modelId="{9B6A7357-F7CB-44EF-B5F7-21510E6946C1}" type="presParOf" srcId="{26AAF315-E786-47FC-B628-05DA32F7C525}" destId="{AABEB64A-593D-4758-826E-C1E886943BCD}"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70C57E-2FD7-425C-A802-7824AE71E521}">
      <dsp:nvSpPr>
        <dsp:cNvPr id="0" name=""/>
        <dsp:cNvSpPr/>
      </dsp:nvSpPr>
      <dsp:spPr>
        <a:xfrm>
          <a:off x="0" y="0"/>
          <a:ext cx="3076464" cy="333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Unveiling Data Patterns</a:t>
          </a:r>
        </a:p>
      </dsp:txBody>
      <dsp:txXfrm>
        <a:off x="0" y="0"/>
        <a:ext cx="3076464" cy="333899"/>
      </dsp:txXfrm>
    </dsp:sp>
    <dsp:sp modelId="{C67AFBFC-B3B7-44D0-95C1-B12BB73F2AB4}">
      <dsp:nvSpPr>
        <dsp:cNvPr id="0" name=""/>
        <dsp:cNvSpPr/>
      </dsp:nvSpPr>
      <dsp:spPr>
        <a:xfrm>
          <a:off x="0" y="333899"/>
          <a:ext cx="3076464" cy="2054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EDA helps identify trends and patterns in property data that are critical for pricing strategies.</a:t>
          </a:r>
        </a:p>
      </dsp:txBody>
      <dsp:txXfrm>
        <a:off x="0" y="333899"/>
        <a:ext cx="3076464" cy="2054730"/>
      </dsp:txXfrm>
    </dsp:sp>
    <dsp:sp modelId="{5B19BF6A-CE17-48BE-BAD9-0AE0CA490CC5}">
      <dsp:nvSpPr>
        <dsp:cNvPr id="0" name=""/>
        <dsp:cNvSpPr/>
      </dsp:nvSpPr>
      <dsp:spPr>
        <a:xfrm>
          <a:off x="3384110" y="0"/>
          <a:ext cx="3076464" cy="333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Enhancing Predictive Models</a:t>
          </a:r>
        </a:p>
      </dsp:txBody>
      <dsp:txXfrm>
        <a:off x="3384110" y="0"/>
        <a:ext cx="3076464" cy="333899"/>
      </dsp:txXfrm>
    </dsp:sp>
    <dsp:sp modelId="{D17DC54B-A72C-4A11-ABF4-BD55507FC0FC}">
      <dsp:nvSpPr>
        <dsp:cNvPr id="0" name=""/>
        <dsp:cNvSpPr/>
      </dsp:nvSpPr>
      <dsp:spPr>
        <a:xfrm>
          <a:off x="3384110" y="333899"/>
          <a:ext cx="3076464" cy="2054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Insights from EDA improve the accuracy of predictive models for property price forecasting.</a:t>
          </a:r>
        </a:p>
      </dsp:txBody>
      <dsp:txXfrm>
        <a:off x="3384110" y="333899"/>
        <a:ext cx="3076464" cy="2054730"/>
      </dsp:txXfrm>
    </dsp:sp>
    <dsp:sp modelId="{2562809A-5867-4131-8454-DEFD705C9BD7}">
      <dsp:nvSpPr>
        <dsp:cNvPr id="0" name=""/>
        <dsp:cNvSpPr/>
      </dsp:nvSpPr>
      <dsp:spPr>
        <a:xfrm>
          <a:off x="6768221" y="0"/>
          <a:ext cx="3076464" cy="3338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Supporting Informed Decisions</a:t>
          </a:r>
        </a:p>
      </dsp:txBody>
      <dsp:txXfrm>
        <a:off x="6768221" y="0"/>
        <a:ext cx="3076464" cy="333899"/>
      </dsp:txXfrm>
    </dsp:sp>
    <dsp:sp modelId="{AABEB64A-593D-4758-826E-C1E886943BCD}">
      <dsp:nvSpPr>
        <dsp:cNvPr id="0" name=""/>
        <dsp:cNvSpPr/>
      </dsp:nvSpPr>
      <dsp:spPr>
        <a:xfrm>
          <a:off x="6768221" y="333899"/>
          <a:ext cx="3076464" cy="20547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EDA enables buyers, sellers, and analysts to make data-driven and confident real estate decisions.</a:t>
          </a:r>
        </a:p>
      </dsp:txBody>
      <dsp:txXfrm>
        <a:off x="6768221" y="333899"/>
        <a:ext cx="3076464" cy="2054730"/>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4F11C6-EAD0-4A5C-8D56-B79F49BDCA2F}" type="datetimeFigureOut">
              <a:rPr lang="en-IN" smtClean="0"/>
              <a:t>02-02-2026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C32699-5DA1-49FF-817A-5D260D072D35}" type="slidenum">
              <a:rPr lang="en-IN" smtClean="0"/>
              <a:t>‹#›</a:t>
            </a:fld>
            <a:endParaRPr lang="en-IN"/>
          </a:p>
        </p:txBody>
      </p:sp>
    </p:spTree>
    <p:extLst>
      <p:ext uri="{BB962C8B-B14F-4D97-AF65-F5344CB8AC3E}">
        <p14:creationId xmlns:p14="http://schemas.microsoft.com/office/powerpoint/2010/main" val="4194003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AI-generated content may be incorrect.
---
</a:t>
            </a:r>
          </a:p>
        </p:txBody>
      </p:sp>
      <p:sp>
        <p:nvSpPr>
          <p:cNvPr id="4" name="Slide Number Placeholder 3"/>
          <p:cNvSpPr>
            <a:spLocks noGrp="1"/>
          </p:cNvSpPr>
          <p:nvPr>
            <p:ph type="sldNum" sz="quarter" idx="5"/>
          </p:nvPr>
        </p:nvSpPr>
        <p:spPr/>
        <p:txBody>
          <a:bodyPr/>
          <a:lstStyle/>
          <a:p>
            <a:fld id="{F2174E03-B253-40E1-9C3B-4703DBBE385E}" type="slidenum">
              <a:rPr lang="en-IN" smtClean="0"/>
              <a:t>1</a:t>
            </a:fld>
            <a:endParaRPr lang="en-IN"/>
          </a:p>
        </p:txBody>
      </p:sp>
    </p:spTree>
    <p:extLst>
      <p:ext uri="{BB962C8B-B14F-4D97-AF65-F5344CB8AC3E}">
        <p14:creationId xmlns:p14="http://schemas.microsoft.com/office/powerpoint/2010/main" val="3619416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Introduction to Exploratory Data Analysis in Real Estate
 Data Preparation and Cleaning
 Univariate and Multivariate Analysis
 Geospatial and Temporal Patterns
 Key Insights and Implications for Pricing Models</a:t>
            </a:r>
          </a:p>
        </p:txBody>
      </p:sp>
      <p:sp>
        <p:nvSpPr>
          <p:cNvPr id="4" name="Slide Number Placeholder 3"/>
          <p:cNvSpPr>
            <a:spLocks noGrp="1"/>
          </p:cNvSpPr>
          <p:nvPr>
            <p:ph type="sldNum" sz="quarter" idx="5"/>
          </p:nvPr>
        </p:nvSpPr>
        <p:spPr/>
        <p:txBody>
          <a:bodyPr/>
          <a:lstStyle/>
          <a:p>
            <a:fld id="{F2174E03-B253-40E1-9C3B-4703DBBE385E}" type="slidenum">
              <a:rPr lang="en-IN" smtClean="0"/>
              <a:t>2</a:t>
            </a:fld>
            <a:endParaRPr lang="en-IN"/>
          </a:p>
        </p:txBody>
      </p:sp>
    </p:spTree>
    <p:extLst>
      <p:ext uri="{BB962C8B-B14F-4D97-AF65-F5344CB8AC3E}">
        <p14:creationId xmlns:p14="http://schemas.microsoft.com/office/powerpoint/2010/main" val="20826074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Purpose and Importance of EDA in Real Estate Pricing, Common Challenges in Real Estate Data, Overview of Property Data Sources</a:t>
            </a:r>
          </a:p>
        </p:txBody>
      </p:sp>
      <p:sp>
        <p:nvSpPr>
          <p:cNvPr id="4" name="Slide Number Placeholder 3"/>
          <p:cNvSpPr>
            <a:spLocks noGrp="1"/>
          </p:cNvSpPr>
          <p:nvPr>
            <p:ph type="sldNum" sz="quarter" idx="5"/>
          </p:nvPr>
        </p:nvSpPr>
        <p:spPr/>
        <p:txBody>
          <a:bodyPr/>
          <a:lstStyle/>
          <a:p>
            <a:fld id="{F2174E03-B253-40E1-9C3B-4703DBBE385E}" type="slidenum">
              <a:rPr lang="en-IN" smtClean="0"/>
              <a:t>3</a:t>
            </a:fld>
            <a:endParaRPr lang="en-IN"/>
          </a:p>
        </p:txBody>
      </p:sp>
    </p:spTree>
    <p:extLst>
      <p:ext uri="{BB962C8B-B14F-4D97-AF65-F5344CB8AC3E}">
        <p14:creationId xmlns:p14="http://schemas.microsoft.com/office/powerpoint/2010/main" val="971275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Exploratory Data Analysis (EDA) is crucial in real estate pricing as it enables analysts to understand the underlying data structure, spotting patterns and anomalies before modeling. EDA helps reveal trends in market conditions, property attributes, and buyer preferences, which are essential for accurate price estimations. It reduces the risk of model bias by ensuring data quality and selecting meaningful features for prediction.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4</a:t>
            </a:fld>
            <a:endParaRPr lang="en-IN"/>
          </a:p>
        </p:txBody>
      </p:sp>
    </p:spTree>
    <p:extLst>
      <p:ext uri="{BB962C8B-B14F-4D97-AF65-F5344CB8AC3E}">
        <p14:creationId xmlns:p14="http://schemas.microsoft.com/office/powerpoint/2010/main" val="19555343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Real estate datasets often contain missing or inconsistent data, such as incomplete property details or irregular transaction records. Price outliers can arise from luxury properties or distressed sales, complicating analysis. Additionally, heterogeneity in property types and data sources can cause integration difficulties. Seasonality and market changes add further complexity, requiring robust data preprocessing techniques.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5</a:t>
            </a:fld>
            <a:endParaRPr lang="en-IN"/>
          </a:p>
        </p:txBody>
      </p:sp>
    </p:spTree>
    <p:extLst>
      <p:ext uri="{BB962C8B-B14F-4D97-AF65-F5344CB8AC3E}">
        <p14:creationId xmlns:p14="http://schemas.microsoft.com/office/powerpoint/2010/main" val="15666522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Identifying and Handling Missing Values, Dealing with Outliers in Property Prices, Feature Engineering for Real Estate Data</a:t>
            </a:r>
          </a:p>
        </p:txBody>
      </p:sp>
      <p:sp>
        <p:nvSpPr>
          <p:cNvPr id="4" name="Slide Number Placeholder 3"/>
          <p:cNvSpPr>
            <a:spLocks noGrp="1"/>
          </p:cNvSpPr>
          <p:nvPr>
            <p:ph type="sldNum" sz="quarter" idx="5"/>
          </p:nvPr>
        </p:nvSpPr>
        <p:spPr/>
        <p:txBody>
          <a:bodyPr/>
          <a:lstStyle/>
          <a:p>
            <a:fld id="{F2174E03-B253-40E1-9C3B-4703DBBE385E}" type="slidenum">
              <a:rPr lang="en-IN" smtClean="0"/>
              <a:t>6</a:t>
            </a:fld>
            <a:endParaRPr lang="en-IN"/>
          </a:p>
        </p:txBody>
      </p:sp>
    </p:spTree>
    <p:extLst>
      <p:ext uri="{BB962C8B-B14F-4D97-AF65-F5344CB8AC3E}">
        <p14:creationId xmlns:p14="http://schemas.microsoft.com/office/powerpoint/2010/main" val="3651817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Missing data can bias real estate analyses; hence, identifying patterns of missingness—random or systematic—is key. Common techniques include imputation using median prices, k-nearest neighbors, or domain-specific assumptions. Visualization of missing data maps helps detect underlying trends, ensuring appropriate cleaning that maintains dataset integrity without distorting price distributions.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7</a:t>
            </a:fld>
            <a:endParaRPr lang="en-IN"/>
          </a:p>
        </p:txBody>
      </p:sp>
    </p:spTree>
    <p:extLst>
      <p:ext uri="{BB962C8B-B14F-4D97-AF65-F5344CB8AC3E}">
        <p14:creationId xmlns:p14="http://schemas.microsoft.com/office/powerpoint/2010/main" val="4424554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Outliers such as ultra-luxurious estates or undervalued foreclosures can skew pricing models. Statistical methods include Z-score filtering, IQR range clipping, and domain-specific thresholding. Robust regression techniques and transformation (e.g., log transformation) further mitigate outlier effects, preserving model stability and interpretability.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8</a:t>
            </a:fld>
            <a:endParaRPr lang="en-IN"/>
          </a:p>
        </p:txBody>
      </p:sp>
    </p:spTree>
    <p:extLst>
      <p:ext uri="{BB962C8B-B14F-4D97-AF65-F5344CB8AC3E}">
        <p14:creationId xmlns:p14="http://schemas.microsoft.com/office/powerpoint/2010/main" val="3077623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Creating meaningful features enhances model predictive power. Examples include price per square foot, proximity to amenities, age of the property, and neighborhood socioeconomic indices. Temporal features like days on market or sales velocity also inform price trends. Feature interactions and dummy variables for categorical attributes improve capturing complex market dynamics.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9</a:t>
            </a:fld>
            <a:endParaRPr lang="en-IN"/>
          </a:p>
        </p:txBody>
      </p:sp>
    </p:spTree>
    <p:extLst>
      <p:ext uri="{BB962C8B-B14F-4D97-AF65-F5344CB8AC3E}">
        <p14:creationId xmlns:p14="http://schemas.microsoft.com/office/powerpoint/2010/main" val="3503534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Analyzing Key Variables (Price, Size, Location), Visualizing Distributions and Trends, Correlations Between Features and Pricing</a:t>
            </a:r>
          </a:p>
        </p:txBody>
      </p:sp>
      <p:sp>
        <p:nvSpPr>
          <p:cNvPr id="4" name="Slide Number Placeholder 3"/>
          <p:cNvSpPr>
            <a:spLocks noGrp="1"/>
          </p:cNvSpPr>
          <p:nvPr>
            <p:ph type="sldNum" sz="quarter" idx="5"/>
          </p:nvPr>
        </p:nvSpPr>
        <p:spPr/>
        <p:txBody>
          <a:bodyPr/>
          <a:lstStyle/>
          <a:p>
            <a:fld id="{F2174E03-B253-40E1-9C3B-4703DBBE385E}" type="slidenum">
              <a:rPr lang="en-IN" smtClean="0"/>
              <a:t>10</a:t>
            </a:fld>
            <a:endParaRPr lang="en-IN"/>
          </a:p>
        </p:txBody>
      </p:sp>
    </p:spTree>
    <p:extLst>
      <p:ext uri="{BB962C8B-B14F-4D97-AF65-F5344CB8AC3E}">
        <p14:creationId xmlns:p14="http://schemas.microsoft.com/office/powerpoint/2010/main" val="2578643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Price distributions typically exhibit right skewness, influenced by high-end listings. Property size correlates strongly with price but varies regionally. Location drives value via accessibility, neighborhood quality, and school district ratings. Statistical summaries and boxplots clarify central tendency and spread, identifying typical versus atypical property characteristics.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11</a:t>
            </a:fld>
            <a:endParaRPr lang="en-IN"/>
          </a:p>
        </p:txBody>
      </p:sp>
    </p:spTree>
    <p:extLst>
      <p:ext uri="{BB962C8B-B14F-4D97-AF65-F5344CB8AC3E}">
        <p14:creationId xmlns:p14="http://schemas.microsoft.com/office/powerpoint/2010/main" val="547288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Density plots and kernel smoothing reveal the distribution of pricing and size variables, highlighting multi-modality or skewness. Time series plots demonstrate seasonal price cycles and market shifts. Visualization aids in detecting exceptions and ongoing trends that may influence valuation strategies.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12</a:t>
            </a:fld>
            <a:endParaRPr lang="en-IN"/>
          </a:p>
        </p:txBody>
      </p:sp>
    </p:spTree>
    <p:extLst>
      <p:ext uri="{BB962C8B-B14F-4D97-AF65-F5344CB8AC3E}">
        <p14:creationId xmlns:p14="http://schemas.microsoft.com/office/powerpoint/2010/main" val="1916760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62228-E088-6EED-7B48-60693489B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91606-B588-D29D-F02B-06AE2DA232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AFED99-5755-C8F6-9C7A-16326A0EB2FD}"/>
              </a:ext>
            </a:extLst>
          </p:cNvPr>
          <p:cNvSpPr>
            <a:spLocks noGrp="1"/>
          </p:cNvSpPr>
          <p:nvPr>
            <p:ph type="body" idx="1"/>
          </p:nvPr>
        </p:nvSpPr>
        <p:spPr/>
        <p:txBody>
          <a:bodyPr/>
          <a:lstStyle/>
          <a:p>
            <a:r>
              <a:rPr lang="en-IN"/>
              <a:t>
---
Density plots and kernel smoothing reveal the distribution of pricing and size variables, highlighting multi-modality or skewness. Time series plots demonstrate seasonal price cycles and market shifts. Visualization aids in detecting exceptions and ongoing trends that may influence valuation strategies.
Image source: AI-generated
</a:t>
            </a:r>
          </a:p>
        </p:txBody>
      </p:sp>
      <p:sp>
        <p:nvSpPr>
          <p:cNvPr id="4" name="Slide Number Placeholder 3">
            <a:extLst>
              <a:ext uri="{FF2B5EF4-FFF2-40B4-BE49-F238E27FC236}">
                <a16:creationId xmlns:a16="http://schemas.microsoft.com/office/drawing/2014/main" id="{3C64C0D0-AF4E-DF65-87E3-B07D5FE49B87}"/>
              </a:ext>
            </a:extLst>
          </p:cNvPr>
          <p:cNvSpPr>
            <a:spLocks noGrp="1"/>
          </p:cNvSpPr>
          <p:nvPr>
            <p:ph type="sldNum" sz="quarter" idx="5"/>
          </p:nvPr>
        </p:nvSpPr>
        <p:spPr/>
        <p:txBody>
          <a:bodyPr/>
          <a:lstStyle/>
          <a:p>
            <a:fld id="{F2174E03-B253-40E1-9C3B-4703DBBE385E}" type="slidenum">
              <a:rPr lang="en-IN" smtClean="0"/>
              <a:t>13</a:t>
            </a:fld>
            <a:endParaRPr lang="en-IN"/>
          </a:p>
        </p:txBody>
      </p:sp>
    </p:spTree>
    <p:extLst>
      <p:ext uri="{BB962C8B-B14F-4D97-AF65-F5344CB8AC3E}">
        <p14:creationId xmlns:p14="http://schemas.microsoft.com/office/powerpoint/2010/main" val="12541116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Key data sources include multiple listing services (MLS), public property tax records, real estate portals, and government census data. Emerging data streams like satellite imagery and social media insights complement traditional sources by providing geospatial and sentiment information. Integrating diverse sources enriches data granularity but demands reconciliation of format and update frequency.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14</a:t>
            </a:fld>
            <a:endParaRPr lang="en-IN"/>
          </a:p>
        </p:txBody>
      </p:sp>
    </p:spTree>
    <p:extLst>
      <p:ext uri="{BB962C8B-B14F-4D97-AF65-F5344CB8AC3E}">
        <p14:creationId xmlns:p14="http://schemas.microsoft.com/office/powerpoint/2010/main" val="2615155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Image source: Microsoft 365 content library
Bivariate analysis investigates the relationship between two variables, and joint plots visually display their interactions. Joint plots combine scatterplots with histograms, showing both the correlation and distribution of each variable. They help identify patterns, trends, and outliers, making them useful for data exploration and preliminary statistical analysis.</a:t>
            </a:r>
          </a:p>
        </p:txBody>
      </p:sp>
      <p:sp>
        <p:nvSpPr>
          <p:cNvPr id="4" name="Slide Number Placeholder 3"/>
          <p:cNvSpPr>
            <a:spLocks noGrp="1"/>
          </p:cNvSpPr>
          <p:nvPr>
            <p:ph type="sldNum" sz="quarter" idx="5"/>
          </p:nvPr>
        </p:nvSpPr>
        <p:spPr/>
        <p:txBody>
          <a:bodyPr/>
          <a:lstStyle/>
          <a:p>
            <a:fld id="{DEC32699-5DA1-49FF-817A-5D260D072D35}" type="slidenum">
              <a:rPr lang="en-IN" smtClean="0"/>
              <a:t>16</a:t>
            </a:fld>
            <a:endParaRPr lang="en-IN"/>
          </a:p>
        </p:txBody>
      </p:sp>
    </p:spTree>
    <p:extLst>
      <p:ext uri="{BB962C8B-B14F-4D97-AF65-F5344CB8AC3E}">
        <p14:creationId xmlns:p14="http://schemas.microsoft.com/office/powerpoint/2010/main" val="1993278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Correlation matrices and heatmaps expose relationships between size, location indices, amenities, and price. Strong positive correlations with square footage and location desirability contrast with weak or negative correlations with property age in some markets. Identifying multicollinearity helps refine predictive models and feature selection.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18</a:t>
            </a:fld>
            <a:endParaRPr lang="en-IN"/>
          </a:p>
        </p:txBody>
      </p:sp>
    </p:spTree>
    <p:extLst>
      <p:ext uri="{BB962C8B-B14F-4D97-AF65-F5344CB8AC3E}">
        <p14:creationId xmlns:p14="http://schemas.microsoft.com/office/powerpoint/2010/main" val="4142237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Geospatial analysis uncovers price clusters, identifying prime real estate zones and undervalued neighborhoods. Heatmaps reflecting average prices or price per square foot elucidate spatial disparities. Integration with GIS data enables understanding proximity effects to city centers, parks, or transit hubs, informing price relativities.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19</a:t>
            </a:fld>
            <a:endParaRPr lang="en-IN"/>
          </a:p>
        </p:txBody>
      </p:sp>
    </p:spTree>
    <p:extLst>
      <p:ext uri="{BB962C8B-B14F-4D97-AF65-F5344CB8AC3E}">
        <p14:creationId xmlns:p14="http://schemas.microsoft.com/office/powerpoint/2010/main" val="27979148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Regional analysis highlights socio-economic factors driving price heterogeneity. Neighborhood clustering techniques classify areas by price behavior, amenities, and demographic profiles. Comparative analysis between regions informs investment decisions and localized pricing strategies.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20</a:t>
            </a:fld>
            <a:endParaRPr lang="en-IN"/>
          </a:p>
        </p:txBody>
      </p:sp>
    </p:spTree>
    <p:extLst>
      <p:ext uri="{BB962C8B-B14F-4D97-AF65-F5344CB8AC3E}">
        <p14:creationId xmlns:p14="http://schemas.microsoft.com/office/powerpoint/2010/main" val="1014017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Summary of EDA Findings, Impacts on Predictive Modeling and Valuation, Recommendations for Stakeholders</a:t>
            </a:r>
          </a:p>
        </p:txBody>
      </p:sp>
      <p:sp>
        <p:nvSpPr>
          <p:cNvPr id="4" name="Slide Number Placeholder 3"/>
          <p:cNvSpPr>
            <a:spLocks noGrp="1"/>
          </p:cNvSpPr>
          <p:nvPr>
            <p:ph type="sldNum" sz="quarter" idx="5"/>
          </p:nvPr>
        </p:nvSpPr>
        <p:spPr/>
        <p:txBody>
          <a:bodyPr/>
          <a:lstStyle/>
          <a:p>
            <a:fld id="{F2174E03-B253-40E1-9C3B-4703DBBE385E}" type="slidenum">
              <a:rPr lang="en-IN" smtClean="0"/>
              <a:t>21</a:t>
            </a:fld>
            <a:endParaRPr lang="en-IN"/>
          </a:p>
        </p:txBody>
      </p:sp>
    </p:spTree>
    <p:extLst>
      <p:ext uri="{BB962C8B-B14F-4D97-AF65-F5344CB8AC3E}">
        <p14:creationId xmlns:p14="http://schemas.microsoft.com/office/powerpoint/2010/main" val="4141051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
---
Comprehensive EDA reveals critical market drivers such as location, size, and temporal trends. Data quality issues like missing values and outliers must be addressed pre-modeling. Feature engineering and correlations inform more robust, interpretable pricing models. Spatial and temporal analyses provide rich contextual insights.
Image source: AI-generated
</a:t>
            </a:r>
          </a:p>
        </p:txBody>
      </p:sp>
      <p:sp>
        <p:nvSpPr>
          <p:cNvPr id="4" name="Slide Number Placeholder 3"/>
          <p:cNvSpPr>
            <a:spLocks noGrp="1"/>
          </p:cNvSpPr>
          <p:nvPr>
            <p:ph type="sldNum" sz="quarter" idx="5"/>
          </p:nvPr>
        </p:nvSpPr>
        <p:spPr/>
        <p:txBody>
          <a:bodyPr/>
          <a:lstStyle/>
          <a:p>
            <a:fld id="{F2174E03-B253-40E1-9C3B-4703DBBE385E}" type="slidenum">
              <a:rPr lang="en-IN" smtClean="0"/>
              <a:t>22</a:t>
            </a:fld>
            <a:endParaRPr lang="en-IN"/>
          </a:p>
        </p:txBody>
      </p:sp>
    </p:spTree>
    <p:extLst>
      <p:ext uri="{BB962C8B-B14F-4D97-AF65-F5344CB8AC3E}">
        <p14:creationId xmlns:p14="http://schemas.microsoft.com/office/powerpoint/2010/main" val="3476401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 summary, Exploratory Data Analysis plays a crucial role in unveiling patterns, handling challenges, and extracting meaningful insights from property data. These insights enhance predictive models and support informed decision-making for various stakeholders in the real estate market. Embracing EDA ensures more accurate pricing and better understanding of market dynamics, ultimately benefiting buyers, sellers, and analysts alike.</a:t>
            </a:r>
          </a:p>
        </p:txBody>
      </p:sp>
      <p:sp>
        <p:nvSpPr>
          <p:cNvPr id="4" name="Slide Number Placeholder 3"/>
          <p:cNvSpPr>
            <a:spLocks noGrp="1"/>
          </p:cNvSpPr>
          <p:nvPr>
            <p:ph type="sldNum" sz="quarter" idx="5"/>
          </p:nvPr>
        </p:nvSpPr>
        <p:spPr/>
        <p:txBody>
          <a:bodyPr/>
          <a:lstStyle/>
          <a:p>
            <a:fld id="{F2174E03-B253-40E1-9C3B-4703DBBE385E}" type="slidenum">
              <a:rPr lang="en-IN" smtClean="0"/>
              <a:t>24</a:t>
            </a:fld>
            <a:endParaRPr lang="en-IN"/>
          </a:p>
        </p:txBody>
      </p:sp>
    </p:spTree>
    <p:extLst>
      <p:ext uri="{BB962C8B-B14F-4D97-AF65-F5344CB8AC3E}">
        <p14:creationId xmlns:p14="http://schemas.microsoft.com/office/powerpoint/2010/main" val="236117277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911186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72229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dirty="0"/>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576618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dirty="0"/>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dirty="0"/>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974747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dirty="0"/>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291909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7776379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dirty="0"/>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dirty="0"/>
              <a:t>Click to edit Master subtitle style</a:t>
            </a:r>
          </a:p>
        </p:txBody>
      </p:sp>
    </p:spTree>
    <p:extLst>
      <p:ext uri="{BB962C8B-B14F-4D97-AF65-F5344CB8AC3E}">
        <p14:creationId xmlns:p14="http://schemas.microsoft.com/office/powerpoint/2010/main" val="16131734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0909438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dirty="0"/>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878885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br>
              <a:rPr lang="en-US" sz="1800" b="0" i="0" u="none" strike="noStrike" cap="none" noProof="0" dirty="0">
                <a:solidFill>
                  <a:schemeClr val="lt1"/>
                </a:solidFill>
                <a:latin typeface="Karla"/>
                <a:ea typeface="Karla"/>
                <a:cs typeface="Karla"/>
                <a:sym typeface="Karla"/>
              </a:rPr>
            </a:b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93351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dirty="0"/>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endParaRPr lang="en-US" dirty="0"/>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dirty="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9120208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98685487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246030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dirty="0"/>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123428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286871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1425845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43375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dirty="0"/>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83825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02608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36396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7777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86283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79290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727789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5713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dirty="0"/>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72547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987947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0178843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dirty="0"/>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55221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a:t>
            </a:fld>
            <a:endParaRPr lang="en-US" dirty="0"/>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873978171"/>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dirty="0"/>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910803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endParaRPr lang="en-US" dirty="0"/>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344867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endParaRPr lang="en-US" dirty="0"/>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09897723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656894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878252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dirty="0"/>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0413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dirty="0"/>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dirty="0"/>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92383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42742908"/>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727311959"/>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4677023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dirty="0"/>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422700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6453582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dirty="0"/>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1914979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575352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dirty="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998541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endParaRPr lang="en-US" dirty="0"/>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005916440"/>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09422356"/>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42478447"/>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dirty="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dirty="0"/>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7034895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63673237"/>
      </p:ext>
    </p:extLst>
  </p:cSld>
  <p:clrMapOvr>
    <a:overrideClrMapping bg1="lt1" tx1="dk1" bg2="lt2" tx2="dk2" accent1="accent1" accent2="accent2" accent3="accent3" accent4="accent4" accent5="accent5" accent6="accent6" hlink="hlink" folHlink="folHlink"/>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dirty="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435251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51482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0.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33.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3.xml"/><Relationship Id="rId1" Type="http://schemas.openxmlformats.org/officeDocument/2006/relationships/slideLayout" Target="../slideLayouts/slideLayout18.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22.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7.xml"/><Relationship Id="rId1" Type="http://schemas.openxmlformats.org/officeDocument/2006/relationships/slideLayout" Target="../slideLayouts/slideLayout22.xml"/><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8.xml"/><Relationship Id="rId1" Type="http://schemas.openxmlformats.org/officeDocument/2006/relationships/slideLayout" Target="../slideLayouts/slideLayout22.xml"/><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0.xml"/><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5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210DF-E74A-69F4-77B7-D3B9F373C06C}"/>
              </a:ext>
            </a:extLst>
          </p:cNvPr>
          <p:cNvSpPr>
            <a:spLocks noGrp="1"/>
          </p:cNvSpPr>
          <p:nvPr>
            <p:ph type="title"/>
          </p:nvPr>
        </p:nvSpPr>
        <p:spPr>
          <a:xfrm>
            <a:off x="974845" y="935203"/>
            <a:ext cx="10036005" cy="1418679"/>
          </a:xfrm>
        </p:spPr>
        <p:txBody>
          <a:bodyPr anchor="b">
            <a:normAutofit fontScale="90000"/>
          </a:bodyPr>
          <a:lstStyle/>
          <a:p>
            <a:r>
              <a:rPr lang="en-IN" sz="3200" dirty="0"/>
              <a:t>								</a:t>
            </a:r>
            <a:r>
              <a:rPr lang="en-US" sz="3200" dirty="0">
                <a:latin typeface="Algerian" panose="04020705040A02060702" pitchFamily="82" charset="0"/>
              </a:rPr>
              <a:t> </a:t>
            </a:r>
            <a:r>
              <a:rPr lang="en-US" sz="2200" dirty="0">
                <a:latin typeface="Algerian" panose="04020705040A02060702" pitchFamily="82" charset="0"/>
              </a:rPr>
              <a:t>Dt. 31/01/2026</a:t>
            </a:r>
            <a:br>
              <a:rPr lang="en-US" sz="3200" dirty="0">
                <a:latin typeface="Algerian" panose="04020705040A02060702" pitchFamily="82" charset="0"/>
              </a:rPr>
            </a:br>
            <a:br>
              <a:rPr lang="en-IN" sz="3200" dirty="0"/>
            </a:br>
            <a:r>
              <a:rPr lang="en-IN" sz="3200" dirty="0"/>
              <a:t>Exploratory Data Analysis (EDA) for Real Estate Pricing: </a:t>
            </a:r>
            <a:br>
              <a:rPr lang="en-IN" sz="3200" dirty="0"/>
            </a:br>
            <a:endParaRPr lang="en-IN" sz="2000" dirty="0"/>
          </a:p>
        </p:txBody>
      </p:sp>
      <p:sp>
        <p:nvSpPr>
          <p:cNvPr id="3" name="Subtitle 2">
            <a:extLst>
              <a:ext uri="{FF2B5EF4-FFF2-40B4-BE49-F238E27FC236}">
                <a16:creationId xmlns:a16="http://schemas.microsoft.com/office/drawing/2014/main" id="{4FBEE83A-C213-11C0-6C1B-0AF80EC3D310}"/>
              </a:ext>
            </a:extLst>
          </p:cNvPr>
          <p:cNvSpPr>
            <a:spLocks noGrp="1"/>
          </p:cNvSpPr>
          <p:nvPr>
            <p:ph type="subTitle" idx="1"/>
          </p:nvPr>
        </p:nvSpPr>
        <p:spPr>
          <a:xfrm>
            <a:off x="5917915" y="4148437"/>
            <a:ext cx="4818579" cy="1150450"/>
          </a:xfrm>
        </p:spPr>
        <p:txBody>
          <a:bodyPr anchor="t">
            <a:normAutofit/>
          </a:bodyPr>
          <a:lstStyle/>
          <a:p>
            <a:pPr algn="r">
              <a:spcBef>
                <a:spcPts val="2500"/>
              </a:spcBef>
            </a:pPr>
            <a:r>
              <a:rPr lang="en-IN" sz="2000" dirty="0" err="1"/>
              <a:t>NextHikes</a:t>
            </a:r>
            <a:r>
              <a:rPr lang="en-IN" sz="2000" dirty="0"/>
              <a:t> IT Solutions</a:t>
            </a:r>
          </a:p>
          <a:p>
            <a:pPr algn="r">
              <a:spcBef>
                <a:spcPts val="2500"/>
              </a:spcBef>
            </a:pPr>
            <a:r>
              <a:rPr lang="en-IN" sz="2000" dirty="0"/>
              <a:t>Sarita Sahoo</a:t>
            </a:r>
          </a:p>
        </p:txBody>
      </p:sp>
      <p:sp>
        <p:nvSpPr>
          <p:cNvPr id="4" name="Subtitle 2">
            <a:extLst>
              <a:ext uri="{FF2B5EF4-FFF2-40B4-BE49-F238E27FC236}">
                <a16:creationId xmlns:a16="http://schemas.microsoft.com/office/drawing/2014/main" id="{38F44654-313B-7DD6-F470-C36642FA9684}"/>
              </a:ext>
            </a:extLst>
          </p:cNvPr>
          <p:cNvSpPr txBox="1">
            <a:spLocks/>
          </p:cNvSpPr>
          <p:nvPr/>
        </p:nvSpPr>
        <p:spPr>
          <a:xfrm>
            <a:off x="1220124" y="2353882"/>
            <a:ext cx="8127648" cy="585627"/>
          </a:xfrm>
          <a:prstGeom prst="rect">
            <a:avLst/>
          </a:prstGeom>
        </p:spPr>
        <p:txBody>
          <a:bodyPr vert="horz" lIns="91440" tIns="45720" rIns="91440" bIns="45720" rtlCol="0" anchor="t">
            <a:normAutofit/>
          </a:bodyPr>
          <a:lstStyle>
            <a:lvl1pPr marL="0" indent="0" algn="l" defTabSz="914400" rtl="0" eaLnBrk="1" latinLnBrk="0" hangingPunct="1">
              <a:lnSpc>
                <a:spcPct val="120000"/>
              </a:lnSpc>
              <a:spcBef>
                <a:spcPts val="1000"/>
              </a:spcBef>
              <a:buFont typeface="Arial" panose="020B0604020202020204" pitchFamily="34" charset="0"/>
              <a:buNone/>
              <a:defRPr lang="en-US" sz="2800" kern="1200" cap="all" baseline="0" dirty="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IN" sz="2000" dirty="0"/>
              <a:t>Analysing property trends through comprehensive data exploration</a:t>
            </a:r>
          </a:p>
        </p:txBody>
      </p:sp>
    </p:spTree>
    <p:extLst>
      <p:ext uri="{BB962C8B-B14F-4D97-AF65-F5344CB8AC3E}">
        <p14:creationId xmlns:p14="http://schemas.microsoft.com/office/powerpoint/2010/main" val="3203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0" nodeType="withEffect">
                                  <p:stCondLst>
                                    <p:cond delay="1000"/>
                                  </p:stCondLst>
                                  <p:iterate type="wd">
                                    <p:tmPct val="15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childTnLst>
                                </p:cTn>
                              </p:par>
                              <p:par>
                                <p:cTn id="14" presetID="42" presetClass="entr" presetSubtype="0" fill="hold" grpId="1" nodeType="withEffect">
                                  <p:stCondLst>
                                    <p:cond delay="250"/>
                                  </p:stCondLst>
                                  <p:iterate type="wd">
                                    <p:tmPct val="10000"/>
                                  </p:iterate>
                                  <p:childTnLst>
                                    <p:set>
                                      <p:cBhvr>
                                        <p:cTn id="15" dur="1" fill="hold">
                                          <p:stCondLst>
                                            <p:cond delay="0"/>
                                          </p:stCondLst>
                                        </p:cTn>
                                        <p:tgtEl>
                                          <p:spTgt spid="3"/>
                                        </p:tgtEl>
                                        <p:attrNameLst>
                                          <p:attrName>style.visibility</p:attrName>
                                        </p:attrNameLst>
                                      </p:cBhvr>
                                      <p:to>
                                        <p:strVal val="visible"/>
                                      </p:to>
                                    </p:set>
                                    <p:animEffect transition="in" filter="fade">
                                      <p:cBhvr>
                                        <p:cTn id="16" dur="250"/>
                                        <p:tgtEl>
                                          <p:spTgt spid="3"/>
                                        </p:tgtEl>
                                      </p:cBhvr>
                                    </p:animEffect>
                                    <p:anim calcmode="lin" valueType="num">
                                      <p:cBhvr>
                                        <p:cTn id="17" dur="250" fill="hold"/>
                                        <p:tgtEl>
                                          <p:spTgt spid="3"/>
                                        </p:tgtEl>
                                        <p:attrNameLst>
                                          <p:attrName>ppt_x</p:attrName>
                                        </p:attrNameLst>
                                      </p:cBhvr>
                                      <p:tavLst>
                                        <p:tav tm="0">
                                          <p:val>
                                            <p:strVal val="#ppt_x"/>
                                          </p:val>
                                        </p:tav>
                                        <p:tav tm="100000">
                                          <p:val>
                                            <p:strVal val="#ppt_x"/>
                                          </p:val>
                                        </p:tav>
                                      </p:tavLst>
                                    </p:anim>
                                    <p:anim calcmode="lin" valueType="num">
                                      <p:cBhvr>
                                        <p:cTn id="18" dur="250" fill="hold"/>
                                        <p:tgtEl>
                                          <p:spTgt spid="3"/>
                                        </p:tgtEl>
                                        <p:attrNameLst>
                                          <p:attrName>ppt_y</p:attrName>
                                        </p:attrNameLst>
                                      </p:cBhvr>
                                      <p:tavLst>
                                        <p:tav tm="0">
                                          <p:val>
                                            <p:strVal val="#ppt_y+.1"/>
                                          </p:val>
                                        </p:tav>
                                        <p:tav tm="100000">
                                          <p:val>
                                            <p:strVal val="#ppt_y"/>
                                          </p:val>
                                        </p:tav>
                                      </p:tavLst>
                                    </p:anim>
                                  </p:childTnLst>
                                </p:cTn>
                              </p:par>
                              <p:par>
                                <p:cTn id="19" presetID="10" presetClass="entr" presetSubtype="0" fill="hold" grpId="0" nodeType="withEffect">
                                  <p:stCondLst>
                                    <p:cond delay="1000"/>
                                  </p:stCondLst>
                                  <p:iterate type="wd">
                                    <p:tmPct val="15000"/>
                                  </p:iterate>
                                  <p:childTnLst>
                                    <p:set>
                                      <p:cBhvr>
                                        <p:cTn id="20" dur="1" fill="hold">
                                          <p:stCondLst>
                                            <p:cond delay="0"/>
                                          </p:stCondLst>
                                        </p:cTn>
                                        <p:tgtEl>
                                          <p:spTgt spid="4">
                                            <p:txEl>
                                              <p:pRg st="0" end="0"/>
                                            </p:txEl>
                                          </p:spTgt>
                                        </p:tgtEl>
                                        <p:attrNameLst>
                                          <p:attrName>style.visibility</p:attrName>
                                        </p:attrNameLst>
                                      </p:cBhvr>
                                      <p:to>
                                        <p:strVal val="visible"/>
                                      </p:to>
                                    </p:set>
                                    <p:animEffect transition="in" filter="fade">
                                      <p:cBhvr>
                                        <p:cTn id="21" dur="1000"/>
                                        <p:tgtEl>
                                          <p:spTgt spid="4">
                                            <p:txEl>
                                              <p:pRg st="0" end="0"/>
                                            </p:txEl>
                                          </p:spTgt>
                                        </p:tgtEl>
                                      </p:cBhvr>
                                    </p:animEffect>
                                  </p:childTnLst>
                                </p:cTn>
                              </p:par>
                              <p:par>
                                <p:cTn id="22" presetID="42" presetClass="entr" presetSubtype="0" fill="hold" grpId="1" nodeType="withEffect">
                                  <p:stCondLst>
                                    <p:cond delay="250"/>
                                  </p:stCondLst>
                                  <p:iterate type="wd">
                                    <p:tmPct val="10000"/>
                                  </p:iterate>
                                  <p:childTnLst>
                                    <p:set>
                                      <p:cBhvr>
                                        <p:cTn id="23" dur="1" fill="hold">
                                          <p:stCondLst>
                                            <p:cond delay="0"/>
                                          </p:stCondLst>
                                        </p:cTn>
                                        <p:tgtEl>
                                          <p:spTgt spid="4"/>
                                        </p:tgtEl>
                                        <p:attrNameLst>
                                          <p:attrName>style.visibility</p:attrName>
                                        </p:attrNameLst>
                                      </p:cBhvr>
                                      <p:to>
                                        <p:strVal val="visible"/>
                                      </p:to>
                                    </p:set>
                                    <p:animEffect transition="in" filter="fade">
                                      <p:cBhvr>
                                        <p:cTn id="24" dur="250"/>
                                        <p:tgtEl>
                                          <p:spTgt spid="4"/>
                                        </p:tgtEl>
                                      </p:cBhvr>
                                    </p:animEffect>
                                    <p:anim calcmode="lin" valueType="num">
                                      <p:cBhvr>
                                        <p:cTn id="25" dur="250" fill="hold"/>
                                        <p:tgtEl>
                                          <p:spTgt spid="4"/>
                                        </p:tgtEl>
                                        <p:attrNameLst>
                                          <p:attrName>ppt_x</p:attrName>
                                        </p:attrNameLst>
                                      </p:cBhvr>
                                      <p:tavLst>
                                        <p:tav tm="0">
                                          <p:val>
                                            <p:strVal val="#ppt_x"/>
                                          </p:val>
                                        </p:tav>
                                        <p:tav tm="100000">
                                          <p:val>
                                            <p:strVal val="#ppt_x"/>
                                          </p:val>
                                        </p:tav>
                                      </p:tavLst>
                                    </p:anim>
                                    <p:anim calcmode="lin" valueType="num">
                                      <p:cBhvr>
                                        <p:cTn id="26"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P spid="4" grpId="0" build="p"/>
      <p:bldP spid="4"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10155-C057-3C85-9D14-E91AA1F31DE0}"/>
              </a:ext>
            </a:extLst>
          </p:cNvPr>
          <p:cNvSpPr>
            <a:spLocks noGrp="1"/>
          </p:cNvSpPr>
          <p:nvPr>
            <p:ph type="title"/>
          </p:nvPr>
        </p:nvSpPr>
        <p:spPr>
          <a:xfrm>
            <a:off x="1580331" y="1525905"/>
            <a:ext cx="8838202" cy="846396"/>
          </a:xfrm>
        </p:spPr>
        <p:txBody>
          <a:bodyPr anchor="b">
            <a:normAutofit/>
          </a:bodyPr>
          <a:lstStyle/>
          <a:p>
            <a:r>
              <a:rPr lang="en-IN" dirty="0"/>
              <a:t>Agenda Highlights</a:t>
            </a:r>
          </a:p>
        </p:txBody>
      </p:sp>
      <p:sp>
        <p:nvSpPr>
          <p:cNvPr id="3" name="Content Placeholder 2">
            <a:extLst>
              <a:ext uri="{FF2B5EF4-FFF2-40B4-BE49-F238E27FC236}">
                <a16:creationId xmlns:a16="http://schemas.microsoft.com/office/drawing/2014/main" id="{3BE70478-0E02-CF4D-C3BA-933F3CDE52D2}"/>
              </a:ext>
            </a:extLst>
          </p:cNvPr>
          <p:cNvSpPr>
            <a:spLocks noGrp="1"/>
          </p:cNvSpPr>
          <p:nvPr>
            <p:ph sz="quarter" idx="13"/>
            <p:extLst>
              <p:ext uri="{E7BDC344-281C-4309-B0C6-D0EE65EED2A8}">
                <p202:designPr xmlns:p202="http://schemas.microsoft.com/office/powerpoint/2020/02/main">
                  <p202:designTagLst>
                    <p202:designTag name="ARCH:1:CLS" val="BulletedText"/>
                  </p202:designTagLst>
                </p202:designPr>
              </p:ext>
            </p:extLst>
          </p:nvPr>
        </p:nvSpPr>
        <p:spPr>
          <a:xfrm>
            <a:off x="1580332" y="2650524"/>
            <a:ext cx="8838202" cy="2386352"/>
          </a:xfrm>
        </p:spPr>
        <p:txBody>
          <a:bodyPr>
            <a:normAutofit/>
          </a:bodyPr>
          <a:lstStyle/>
          <a:p>
            <a:pPr>
              <a:lnSpc>
                <a:spcPct val="110000"/>
              </a:lnSpc>
              <a:buFont typeface="Arial" panose="020B0604020202020204" pitchFamily="34" charset="0"/>
              <a:buChar char="•"/>
            </a:pPr>
            <a:r>
              <a:rPr lang="en-US" sz="2000" dirty="0"/>
              <a:t>Introduction to Exploratory Data Analysis in Real Estate</a:t>
            </a:r>
          </a:p>
          <a:p>
            <a:pPr>
              <a:lnSpc>
                <a:spcPct val="110000"/>
              </a:lnSpc>
              <a:buFont typeface="Arial" panose="020B0604020202020204" pitchFamily="34" charset="0"/>
              <a:buChar char="•"/>
            </a:pPr>
            <a:r>
              <a:rPr lang="en-US" sz="2000" dirty="0"/>
              <a:t>Data Preparation and Cleaning</a:t>
            </a:r>
          </a:p>
          <a:p>
            <a:pPr>
              <a:lnSpc>
                <a:spcPct val="110000"/>
              </a:lnSpc>
              <a:buFont typeface="Arial" panose="020B0604020202020204" pitchFamily="34" charset="0"/>
              <a:buChar char="•"/>
            </a:pPr>
            <a:r>
              <a:rPr lang="en-US" sz="2000" dirty="0"/>
              <a:t>Univariate, Bivariate and Multivariate Analysis</a:t>
            </a:r>
          </a:p>
          <a:p>
            <a:pPr>
              <a:lnSpc>
                <a:spcPct val="110000"/>
              </a:lnSpc>
              <a:buFont typeface="Arial" panose="020B0604020202020204" pitchFamily="34" charset="0"/>
              <a:buChar char="•"/>
            </a:pPr>
            <a:r>
              <a:rPr lang="en-US" sz="2000" dirty="0"/>
              <a:t>Key Insights and Implications for Pricing Models</a:t>
            </a:r>
          </a:p>
        </p:txBody>
      </p:sp>
    </p:spTree>
    <p:extLst>
      <p:ext uri="{BB962C8B-B14F-4D97-AF65-F5344CB8AC3E}">
        <p14:creationId xmlns:p14="http://schemas.microsoft.com/office/powerpoint/2010/main" val="6212447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B90CD-3799-FB4F-8681-49DA6A441386}"/>
              </a:ext>
            </a:extLst>
          </p:cNvPr>
          <p:cNvSpPr>
            <a:spLocks noGrp="1"/>
          </p:cNvSpPr>
          <p:nvPr>
            <p:ph type="ctrTitle"/>
          </p:nvPr>
        </p:nvSpPr>
        <p:spPr>
          <a:xfrm>
            <a:off x="1522013" y="1282325"/>
            <a:ext cx="8893834" cy="3988550"/>
          </a:xfrm>
        </p:spPr>
        <p:txBody>
          <a:bodyPr anchor="ctr">
            <a:normAutofit/>
          </a:bodyPr>
          <a:lstStyle/>
          <a:p>
            <a:r>
              <a:rPr lang="en-IN"/>
              <a:t>Introduction to Exploratory Data Analysis in Real Estate</a:t>
            </a:r>
          </a:p>
        </p:txBody>
      </p:sp>
    </p:spTree>
    <p:extLst>
      <p:ext uri="{BB962C8B-B14F-4D97-AF65-F5344CB8AC3E}">
        <p14:creationId xmlns:p14="http://schemas.microsoft.com/office/powerpoint/2010/main" val="13406845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EE2FD-DCA2-4996-7446-5FDBCA227E59}"/>
              </a:ext>
            </a:extLst>
          </p:cNvPr>
          <p:cNvSpPr>
            <a:spLocks noGrp="1"/>
          </p:cNvSpPr>
          <p:nvPr>
            <p:ph type="title"/>
          </p:nvPr>
        </p:nvSpPr>
        <p:spPr>
          <a:xfrm>
            <a:off x="400692" y="431395"/>
            <a:ext cx="7058345" cy="554924"/>
          </a:xfrm>
        </p:spPr>
        <p:txBody>
          <a:bodyPr anchor="b">
            <a:normAutofit/>
          </a:bodyPr>
          <a:lstStyle/>
          <a:p>
            <a:r>
              <a:rPr lang="en-IN" sz="2400" dirty="0"/>
              <a:t>Purpose and Importance of EDA in Real Estate</a:t>
            </a:r>
          </a:p>
        </p:txBody>
      </p:sp>
      <p:sp>
        <p:nvSpPr>
          <p:cNvPr id="3" name="Content Placeholder 2">
            <a:extLst>
              <a:ext uri="{FF2B5EF4-FFF2-40B4-BE49-F238E27FC236}">
                <a16:creationId xmlns:a16="http://schemas.microsoft.com/office/drawing/2014/main" id="{3ECEE2F4-8AFF-861F-9D35-5E8D5B9D2D5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0864" y="1117418"/>
            <a:ext cx="6863136" cy="1995651"/>
          </a:xfrm>
        </p:spPr>
        <p:txBody>
          <a:bodyPr>
            <a:normAutofit fontScale="92500" lnSpcReduction="20000"/>
          </a:bodyPr>
          <a:lstStyle/>
          <a:p>
            <a:pPr marL="0" indent="0">
              <a:spcBef>
                <a:spcPts val="2500"/>
              </a:spcBef>
              <a:buFont typeface="Arial" panose="020B0604020202020204" pitchFamily="34" charset="0"/>
              <a:buNone/>
            </a:pPr>
            <a:r>
              <a:rPr lang="en-US" sz="1400" b="1" dirty="0"/>
              <a:t>Understanding Data Structure</a:t>
            </a:r>
          </a:p>
          <a:p>
            <a:pPr marL="0" lvl="1" indent="0">
              <a:buFont typeface="Arial" panose="020B0604020202020204" pitchFamily="34" charset="0"/>
              <a:buNone/>
            </a:pPr>
            <a:r>
              <a:rPr lang="en-US" sz="1400" dirty="0"/>
              <a:t>EDA helps analysts grasp the core structure of real estate data to identify key patterns and anomalies early.</a:t>
            </a:r>
          </a:p>
          <a:p>
            <a:pPr marL="0" lvl="1" indent="0">
              <a:buFont typeface="Arial" panose="020B0604020202020204" pitchFamily="34" charset="0"/>
              <a:buNone/>
            </a:pPr>
            <a:r>
              <a:rPr lang="en-US" sz="1400" b="1" dirty="0"/>
              <a:t>Revealing Market Trends</a:t>
            </a:r>
          </a:p>
          <a:p>
            <a:pPr marL="0" lvl="1" indent="0">
              <a:buFont typeface="Arial" panose="020B0604020202020204" pitchFamily="34" charset="0"/>
              <a:buNone/>
            </a:pPr>
            <a:r>
              <a:rPr lang="en-US" sz="1400" dirty="0"/>
              <a:t>Through EDA, trends in market conditions, property features, and buyer behaviors are uncovered for better pricing models.</a:t>
            </a:r>
          </a:p>
          <a:p>
            <a:pPr marL="0" lvl="1" indent="0">
              <a:buFont typeface="Arial" panose="020B0604020202020204" pitchFamily="34" charset="0"/>
              <a:buNone/>
            </a:pPr>
            <a:r>
              <a:rPr lang="en-US" sz="1400" b="1" dirty="0"/>
              <a:t>Ensuring Data Quality</a:t>
            </a:r>
          </a:p>
          <a:p>
            <a:pPr marL="0" lvl="1" indent="0">
              <a:buFont typeface="Arial" panose="020B0604020202020204" pitchFamily="34" charset="0"/>
              <a:buNone/>
            </a:pPr>
            <a:r>
              <a:rPr lang="en-US" sz="1400" dirty="0"/>
              <a:t>EDA improves data quality and reduces bias by selecting meaningful features essential for accurate price prediction.</a:t>
            </a:r>
          </a:p>
        </p:txBody>
      </p:sp>
      <p:pic>
        <p:nvPicPr>
          <p:cNvPr id="5" name="Content Placeholder 4" descr="Real estate data exploration showing charts, patterns, and house price analysis">
            <a:extLst>
              <a:ext uri="{FF2B5EF4-FFF2-40B4-BE49-F238E27FC236}">
                <a16:creationId xmlns:a16="http://schemas.microsoft.com/office/drawing/2014/main" id="{ACF5A63C-AEBA-40B1-83DB-3D48A044496B}"/>
              </a:ext>
            </a:extLst>
          </p:cNvPr>
          <p:cNvPicPr>
            <a:picLocks noGrp="1" noChangeAspect="1"/>
          </p:cNvPicPr>
          <p:nvPr>
            <p:ph type="pic" sz="quarter" idx="13"/>
          </p:nvPr>
        </p:nvPicPr>
        <p:blipFill>
          <a:blip r:embed="rId3"/>
          <a:srcRect l="30460" r="25086" b="-1"/>
          <a:stretch>
            <a:fillRect/>
          </a:stretch>
        </p:blipFill>
        <p:spPr>
          <a:xfrm>
            <a:off x="7624831" y="10"/>
            <a:ext cx="4567169" cy="6857990"/>
          </a:xfrm>
          <a:solidFill>
            <a:srgbClr val="F3EBE8"/>
          </a:solidFill>
        </p:spPr>
      </p:pic>
      <p:sp>
        <p:nvSpPr>
          <p:cNvPr id="4" name="Title 1">
            <a:extLst>
              <a:ext uri="{FF2B5EF4-FFF2-40B4-BE49-F238E27FC236}">
                <a16:creationId xmlns:a16="http://schemas.microsoft.com/office/drawing/2014/main" id="{845CC9E9-7283-ED73-A6A2-51CF7F01B1BC}"/>
              </a:ext>
            </a:extLst>
          </p:cNvPr>
          <p:cNvSpPr txBox="1">
            <a:spLocks/>
          </p:cNvSpPr>
          <p:nvPr/>
        </p:nvSpPr>
        <p:spPr>
          <a:xfrm>
            <a:off x="398123" y="3215811"/>
            <a:ext cx="7058345" cy="464803"/>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r>
              <a:rPr lang="en-IN" sz="2400" dirty="0"/>
              <a:t>Common Challenges in Real Estate Data Pricing</a:t>
            </a:r>
          </a:p>
        </p:txBody>
      </p:sp>
      <p:sp>
        <p:nvSpPr>
          <p:cNvPr id="6" name="Content Placeholder 2">
            <a:extLst>
              <a:ext uri="{FF2B5EF4-FFF2-40B4-BE49-F238E27FC236}">
                <a16:creationId xmlns:a16="http://schemas.microsoft.com/office/drawing/2014/main" id="{F2A859B6-2523-3374-0F36-763B3682844B}"/>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0864" y="3811713"/>
            <a:ext cx="6858000" cy="279210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Font typeface="Arial" panose="020B0604020202020204" pitchFamily="34" charset="0"/>
              <a:buNone/>
            </a:pPr>
            <a:r>
              <a:rPr lang="en-US" sz="1400" b="1" dirty="0"/>
              <a:t>Data Quality Issues</a:t>
            </a:r>
          </a:p>
          <a:p>
            <a:pPr marL="0" lvl="1" indent="0">
              <a:buFont typeface="Arial" panose="020B0604020202020204" pitchFamily="34" charset="0"/>
              <a:buNone/>
            </a:pPr>
            <a:r>
              <a:rPr lang="en-US" sz="1400" dirty="0"/>
              <a:t>Real estate datasets often have missing or inconsistent property details and transaction records that affect analysis quality.</a:t>
            </a:r>
          </a:p>
          <a:p>
            <a:pPr marL="0" lvl="1" indent="0">
              <a:buFont typeface="Arial" panose="020B0604020202020204" pitchFamily="34" charset="0"/>
              <a:buNone/>
            </a:pPr>
            <a:r>
              <a:rPr lang="en-US" sz="1400" b="1" dirty="0"/>
              <a:t>Price Outliers</a:t>
            </a:r>
          </a:p>
          <a:p>
            <a:pPr marL="0" lvl="1" indent="0">
              <a:buFont typeface="Arial" panose="020B0604020202020204" pitchFamily="34" charset="0"/>
              <a:buNone/>
            </a:pPr>
            <a:r>
              <a:rPr lang="en-US" sz="1400" dirty="0"/>
              <a:t>Luxury and distressed property sales create price outliers that complicate real estate market analysis.</a:t>
            </a:r>
          </a:p>
          <a:p>
            <a:pPr marL="0" lvl="1" indent="0">
              <a:buFont typeface="Arial" panose="020B0604020202020204" pitchFamily="34" charset="0"/>
              <a:buNone/>
            </a:pPr>
            <a:r>
              <a:rPr lang="en-US" sz="1400" b="1" dirty="0"/>
              <a:t>Data Integration Challenges</a:t>
            </a:r>
          </a:p>
          <a:p>
            <a:pPr marL="0" lvl="1" indent="0">
              <a:buFont typeface="Arial" panose="020B0604020202020204" pitchFamily="34" charset="0"/>
              <a:buNone/>
            </a:pPr>
            <a:r>
              <a:rPr lang="en-US" sz="1400" dirty="0"/>
              <a:t>Heterogeneous property types and multiple data sources cause difficulties integrating real estate datasets effectively.</a:t>
            </a:r>
          </a:p>
          <a:p>
            <a:pPr marL="0" lvl="1" indent="0">
              <a:buFont typeface="Arial" panose="020B0604020202020204" pitchFamily="34" charset="0"/>
              <a:buNone/>
            </a:pPr>
            <a:r>
              <a:rPr lang="en-US" sz="1400" b="1" dirty="0"/>
              <a:t>Seasonality and Market Changes</a:t>
            </a:r>
          </a:p>
          <a:p>
            <a:pPr marL="0" lvl="1" indent="0">
              <a:buFont typeface="Arial" panose="020B0604020202020204" pitchFamily="34" charset="0"/>
              <a:buNone/>
            </a:pPr>
            <a:r>
              <a:rPr lang="en-US" sz="1400" dirty="0"/>
              <a:t>Seasonal trends and market shifts add complexity, requiring advanced preprocessing to maintain data accuracy.</a:t>
            </a:r>
          </a:p>
        </p:txBody>
      </p:sp>
    </p:spTree>
    <p:extLst>
      <p:ext uri="{BB962C8B-B14F-4D97-AF65-F5344CB8AC3E}">
        <p14:creationId xmlns:p14="http://schemas.microsoft.com/office/powerpoint/2010/main" val="28867459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6"/>
                                        </p:tgtEl>
                                        <p:attrNameLst>
                                          <p:attrName>style.visibility</p:attrName>
                                        </p:attrNameLst>
                                      </p:cBhvr>
                                      <p:to>
                                        <p:strVal val="visible"/>
                                      </p:to>
                                    </p:set>
                                    <p:animEffect transition="in" filter="fade">
                                      <p:cBhvr>
                                        <p:cTn id="12" dur="250"/>
                                        <p:tgtEl>
                                          <p:spTgt spid="6"/>
                                        </p:tgtEl>
                                      </p:cBhvr>
                                    </p:animEffect>
                                    <p:anim calcmode="lin" valueType="num">
                                      <p:cBhvr>
                                        <p:cTn id="13" dur="250" fill="hold"/>
                                        <p:tgtEl>
                                          <p:spTgt spid="6"/>
                                        </p:tgtEl>
                                        <p:attrNameLst>
                                          <p:attrName>ppt_x</p:attrName>
                                        </p:attrNameLst>
                                      </p:cBhvr>
                                      <p:tavLst>
                                        <p:tav tm="0">
                                          <p:val>
                                            <p:strVal val="#ppt_x"/>
                                          </p:val>
                                        </p:tav>
                                        <p:tav tm="100000">
                                          <p:val>
                                            <p:strVal val="#ppt_x"/>
                                          </p:val>
                                        </p:tav>
                                      </p:tavLst>
                                    </p:anim>
                                    <p:anim calcmode="lin" valueType="num">
                                      <p:cBhvr>
                                        <p:cTn id="14" dur="25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0F632-E2CB-E677-02D5-0D462FE05EAE}"/>
              </a:ext>
            </a:extLst>
          </p:cNvPr>
          <p:cNvSpPr>
            <a:spLocks noGrp="1"/>
          </p:cNvSpPr>
          <p:nvPr>
            <p:ph type="title"/>
          </p:nvPr>
        </p:nvSpPr>
        <p:spPr>
          <a:xfrm>
            <a:off x="612647" y="326446"/>
            <a:ext cx="6858000" cy="932688"/>
          </a:xfrm>
        </p:spPr>
        <p:txBody>
          <a:bodyPr anchor="b">
            <a:normAutofit/>
          </a:bodyPr>
          <a:lstStyle/>
          <a:p>
            <a:r>
              <a:rPr lang="en-US" sz="2800" b="1" dirty="0"/>
              <a:t>EDA for Real Estate Pricing: </a:t>
            </a:r>
            <a:br>
              <a:rPr lang="en-US" sz="2800" dirty="0"/>
            </a:br>
            <a:r>
              <a:rPr lang="en-IN" sz="2800" dirty="0"/>
              <a:t>Problem Statement</a:t>
            </a:r>
          </a:p>
        </p:txBody>
      </p:sp>
      <p:sp>
        <p:nvSpPr>
          <p:cNvPr id="3" name="Content Placeholder 2">
            <a:extLst>
              <a:ext uri="{FF2B5EF4-FFF2-40B4-BE49-F238E27FC236}">
                <a16:creationId xmlns:a16="http://schemas.microsoft.com/office/drawing/2014/main" id="{696EFF28-150A-EDB0-4FE2-112EB96AC19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71269" y="1372150"/>
            <a:ext cx="6858000" cy="2627128"/>
          </a:xfrm>
        </p:spPr>
        <p:txBody>
          <a:bodyPr>
            <a:normAutofit fontScale="85000" lnSpcReduction="20000"/>
          </a:bodyPr>
          <a:lstStyle/>
          <a:p>
            <a:pPr marL="0" indent="0">
              <a:buNone/>
            </a:pPr>
            <a:r>
              <a:rPr lang="en-US" sz="1500" b="1" dirty="0"/>
              <a:t>Feature Engineering and Size Impact:</a:t>
            </a:r>
            <a:r>
              <a:rPr lang="en-US" sz="1500" dirty="0"/>
              <a:t> </a:t>
            </a:r>
          </a:p>
          <a:p>
            <a:pPr marL="0" indent="0">
              <a:buNone/>
            </a:pPr>
            <a:r>
              <a:rPr lang="en-US" sz="1500" dirty="0"/>
              <a:t>● Engineer new features capturing relevant information such as price per square foot or the age of the property. </a:t>
            </a:r>
          </a:p>
          <a:p>
            <a:pPr marL="0" indent="0">
              <a:buNone/>
            </a:pPr>
            <a:r>
              <a:rPr lang="en-US" sz="1500" dirty="0"/>
              <a:t>● Visualize the relationship between key features like bedrooms, bathrooms, and square footage with house prices, determining their impact on valuation. </a:t>
            </a:r>
          </a:p>
          <a:p>
            <a:pPr marL="0" indent="0">
              <a:buNone/>
            </a:pPr>
            <a:r>
              <a:rPr lang="en-US" sz="1500" b="1" dirty="0"/>
              <a:t>Market Trends and Historical Pricing: </a:t>
            </a:r>
          </a:p>
          <a:p>
            <a:pPr marL="0" indent="0">
              <a:buNone/>
            </a:pPr>
            <a:r>
              <a:rPr lang="en-US" sz="1500" dirty="0"/>
              <a:t>● Analyze historical pricing trends over time, considering external factors like economic indicators. </a:t>
            </a:r>
          </a:p>
          <a:p>
            <a:pPr marL="0" indent="0">
              <a:buNone/>
            </a:pPr>
            <a:r>
              <a:rPr lang="en-US" sz="1500" dirty="0"/>
              <a:t>● Create time-series visualizations to understand how market trends influence house prices, helping predict future valuation trends. </a:t>
            </a:r>
          </a:p>
          <a:p>
            <a:pPr marL="0" indent="0">
              <a:buNone/>
            </a:pPr>
            <a:r>
              <a:rPr lang="en-IN" sz="1400" dirty="0"/>
              <a:t>“Housing Data.csv”  dataset provided to analyse.</a:t>
            </a:r>
          </a:p>
          <a:p>
            <a:pPr marL="0" indent="0">
              <a:buNone/>
            </a:pPr>
            <a:endParaRPr lang="en-US" sz="2100" dirty="0"/>
          </a:p>
          <a:p>
            <a:pPr marL="0" indent="0">
              <a:buNone/>
            </a:pPr>
            <a:endParaRPr lang="en-US" sz="2200" dirty="0"/>
          </a:p>
          <a:p>
            <a:pPr marL="0" indent="0">
              <a:buNone/>
            </a:pPr>
            <a:endParaRPr lang="en-US" sz="2200" dirty="0"/>
          </a:p>
          <a:p>
            <a:pPr marL="0" indent="0">
              <a:buNone/>
            </a:pPr>
            <a:endParaRPr lang="en-US" sz="2200" dirty="0"/>
          </a:p>
          <a:p>
            <a:endParaRPr lang="en-IN" sz="2200" dirty="0"/>
          </a:p>
        </p:txBody>
      </p:sp>
      <p:pic>
        <p:nvPicPr>
          <p:cNvPr id="5" name="Content Placeholder 4" descr="Data analysis with real estate properties, charts showing data irregularities and diverse property types">
            <a:extLst>
              <a:ext uri="{FF2B5EF4-FFF2-40B4-BE49-F238E27FC236}">
                <a16:creationId xmlns:a16="http://schemas.microsoft.com/office/drawing/2014/main" id="{B486430A-C751-456E-AE93-B5FF990EDFD0}"/>
              </a:ext>
            </a:extLst>
          </p:cNvPr>
          <p:cNvPicPr>
            <a:picLocks noGrp="1" noChangeAspect="1"/>
          </p:cNvPicPr>
          <p:nvPr>
            <p:ph type="pic" sz="quarter" idx="13"/>
          </p:nvPr>
        </p:nvPicPr>
        <p:blipFill>
          <a:blip r:embed="rId3"/>
          <a:srcRect l="32725" r="27366" b="-1"/>
          <a:stretch>
            <a:fillRect/>
          </a:stretch>
        </p:blipFill>
        <p:spPr>
          <a:xfrm>
            <a:off x="8091732" y="10"/>
            <a:ext cx="4100267" cy="6857990"/>
          </a:xfrm>
          <a:solidFill>
            <a:srgbClr val="F3EBE8"/>
          </a:solidFill>
        </p:spPr>
      </p:pic>
      <p:pic>
        <p:nvPicPr>
          <p:cNvPr id="6" name="Picture 5">
            <a:extLst>
              <a:ext uri="{FF2B5EF4-FFF2-40B4-BE49-F238E27FC236}">
                <a16:creationId xmlns:a16="http://schemas.microsoft.com/office/drawing/2014/main" id="{2BA6F95D-908C-3BF9-EDA9-1C0CD123E257}"/>
              </a:ext>
            </a:extLst>
          </p:cNvPr>
          <p:cNvPicPr>
            <a:picLocks noChangeAspect="1"/>
          </p:cNvPicPr>
          <p:nvPr/>
        </p:nvPicPr>
        <p:blipFill>
          <a:blip r:embed="rId4"/>
          <a:stretch>
            <a:fillRect/>
          </a:stretch>
        </p:blipFill>
        <p:spPr>
          <a:xfrm>
            <a:off x="671269" y="4010474"/>
            <a:ext cx="7315200" cy="2521080"/>
          </a:xfrm>
          <a:prstGeom prst="rect">
            <a:avLst/>
          </a:prstGeom>
        </p:spPr>
      </p:pic>
    </p:spTree>
    <p:extLst>
      <p:ext uri="{BB962C8B-B14F-4D97-AF65-F5344CB8AC3E}">
        <p14:creationId xmlns:p14="http://schemas.microsoft.com/office/powerpoint/2010/main" val="41887345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36419-39B0-5EA6-9BB8-96043E4D5A60}"/>
              </a:ext>
            </a:extLst>
          </p:cNvPr>
          <p:cNvSpPr>
            <a:spLocks noGrp="1"/>
          </p:cNvSpPr>
          <p:nvPr>
            <p:ph type="ctrTitle"/>
          </p:nvPr>
        </p:nvSpPr>
        <p:spPr>
          <a:xfrm>
            <a:off x="1522013" y="1282325"/>
            <a:ext cx="8893834" cy="3988550"/>
          </a:xfrm>
        </p:spPr>
        <p:txBody>
          <a:bodyPr anchor="ctr">
            <a:normAutofit/>
          </a:bodyPr>
          <a:lstStyle/>
          <a:p>
            <a:r>
              <a:rPr lang="en-IN"/>
              <a:t>Data Preparation and Cleaning</a:t>
            </a:r>
          </a:p>
        </p:txBody>
      </p:sp>
    </p:spTree>
    <p:extLst>
      <p:ext uri="{BB962C8B-B14F-4D97-AF65-F5344CB8AC3E}">
        <p14:creationId xmlns:p14="http://schemas.microsoft.com/office/powerpoint/2010/main" val="4233927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0BF0B-44C2-3312-F39E-255CBDC30642}"/>
              </a:ext>
            </a:extLst>
          </p:cNvPr>
          <p:cNvSpPr>
            <a:spLocks noGrp="1"/>
          </p:cNvSpPr>
          <p:nvPr>
            <p:ph type="title"/>
          </p:nvPr>
        </p:nvSpPr>
        <p:spPr>
          <a:xfrm>
            <a:off x="527553" y="538716"/>
            <a:ext cx="4763638" cy="981859"/>
          </a:xfrm>
        </p:spPr>
        <p:txBody>
          <a:bodyPr anchor="b">
            <a:normAutofit/>
          </a:bodyPr>
          <a:lstStyle/>
          <a:p>
            <a:r>
              <a:rPr lang="en-IN" sz="2800" dirty="0"/>
              <a:t>Identifying and Handling Missing Values</a:t>
            </a:r>
          </a:p>
        </p:txBody>
      </p:sp>
      <p:sp>
        <p:nvSpPr>
          <p:cNvPr id="3" name="Content Placeholder 2">
            <a:extLst>
              <a:ext uri="{FF2B5EF4-FFF2-40B4-BE49-F238E27FC236}">
                <a16:creationId xmlns:a16="http://schemas.microsoft.com/office/drawing/2014/main" id="{D6429E5A-0837-97C8-3089-F17FBF360D6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7552" y="1636057"/>
            <a:ext cx="5030767" cy="2103735"/>
          </a:xfrm>
        </p:spPr>
        <p:txBody>
          <a:bodyPr>
            <a:normAutofit fontScale="92500" lnSpcReduction="20000"/>
          </a:bodyPr>
          <a:lstStyle/>
          <a:p>
            <a:pPr marL="0" indent="0">
              <a:spcBef>
                <a:spcPts val="2500"/>
              </a:spcBef>
              <a:buFont typeface="Arial" panose="020B0604020202020204" pitchFamily="34" charset="0"/>
              <a:buNone/>
            </a:pPr>
            <a:r>
              <a:rPr lang="en-US" sz="1400" b="1" dirty="0"/>
              <a:t>Patterns of Missingness</a:t>
            </a:r>
          </a:p>
          <a:p>
            <a:pPr marL="0" lvl="1" indent="0">
              <a:buFont typeface="Arial" panose="020B0604020202020204" pitchFamily="34" charset="0"/>
              <a:buNone/>
            </a:pPr>
            <a:r>
              <a:rPr lang="en-US" sz="1400" dirty="0"/>
              <a:t>Identifying whether missing data is present in the dataset and is crucial for unbiased analysis.</a:t>
            </a:r>
          </a:p>
          <a:p>
            <a:pPr marL="0" lvl="1" indent="0">
              <a:buFont typeface="Arial" panose="020B0604020202020204" pitchFamily="34" charset="0"/>
              <a:buNone/>
            </a:pPr>
            <a:r>
              <a:rPr lang="en-US" sz="1400" b="1" dirty="0"/>
              <a:t>Imputation Techniques</a:t>
            </a:r>
          </a:p>
          <a:p>
            <a:pPr marL="0" lvl="1" indent="0">
              <a:buFont typeface="Arial" panose="020B0604020202020204" pitchFamily="34" charset="0"/>
              <a:buNone/>
            </a:pPr>
            <a:r>
              <a:rPr lang="en-US" sz="1400" dirty="0"/>
              <a:t>Common imputation methods include median price substitution. </a:t>
            </a:r>
          </a:p>
          <a:p>
            <a:pPr marL="0" lvl="1" indent="0">
              <a:buFont typeface="Arial" panose="020B0604020202020204" pitchFamily="34" charset="0"/>
              <a:buNone/>
            </a:pPr>
            <a:r>
              <a:rPr lang="en-US" sz="1400" b="1" dirty="0"/>
              <a:t>Visualization for Cleaning</a:t>
            </a:r>
          </a:p>
          <a:p>
            <a:pPr marL="0" lvl="1" indent="0">
              <a:buFont typeface="Arial" panose="020B0604020202020204" pitchFamily="34" charset="0"/>
              <a:buNone/>
            </a:pPr>
            <a:r>
              <a:rPr lang="en-US" sz="1400" dirty="0"/>
              <a:t>Mapping missing data visually helps detect trends and ensures cleaning maintains dataset integrity.</a:t>
            </a:r>
          </a:p>
        </p:txBody>
      </p:sp>
      <p:pic>
        <p:nvPicPr>
          <p:cNvPr id="5" name="Content Placeholder 4" descr="Data visualization showing missing data patterns and imputation methods in real estate datasets">
            <a:extLst>
              <a:ext uri="{FF2B5EF4-FFF2-40B4-BE49-F238E27FC236}">
                <a16:creationId xmlns:a16="http://schemas.microsoft.com/office/drawing/2014/main" id="{08B59F27-539A-4041-BD78-8E31C5F79746}"/>
              </a:ext>
            </a:extLst>
          </p:cNvPr>
          <p:cNvPicPr>
            <a:picLocks noGrp="1" noChangeAspect="1"/>
          </p:cNvPicPr>
          <p:nvPr>
            <p:ph type="pic" sz="quarter" idx="13"/>
          </p:nvPr>
        </p:nvPicPr>
        <p:blipFill>
          <a:blip r:embed="rId3"/>
          <a:srcRect l="19653" r="16758" b="-1"/>
          <a:stretch>
            <a:fillRect/>
          </a:stretch>
        </p:blipFill>
        <p:spPr>
          <a:xfrm>
            <a:off x="5658928" y="10"/>
            <a:ext cx="6533072" cy="6857990"/>
          </a:xfrm>
          <a:solidFill>
            <a:srgbClr val="F3EBE8"/>
          </a:solidFill>
        </p:spPr>
      </p:pic>
      <p:pic>
        <p:nvPicPr>
          <p:cNvPr id="6" name="Picture 5">
            <a:extLst>
              <a:ext uri="{FF2B5EF4-FFF2-40B4-BE49-F238E27FC236}">
                <a16:creationId xmlns:a16="http://schemas.microsoft.com/office/drawing/2014/main" id="{04330BBA-3EE9-59DA-4529-8B7DA4CAA4AA}"/>
              </a:ext>
            </a:extLst>
          </p:cNvPr>
          <p:cNvPicPr>
            <a:picLocks noChangeAspect="1"/>
          </p:cNvPicPr>
          <p:nvPr/>
        </p:nvPicPr>
        <p:blipFill>
          <a:blip r:embed="rId4"/>
          <a:stretch>
            <a:fillRect/>
          </a:stretch>
        </p:blipFill>
        <p:spPr>
          <a:xfrm>
            <a:off x="527552" y="3894725"/>
            <a:ext cx="5030767" cy="2654436"/>
          </a:xfrm>
          <a:prstGeom prst="rect">
            <a:avLst/>
          </a:prstGeom>
        </p:spPr>
      </p:pic>
    </p:spTree>
    <p:extLst>
      <p:ext uri="{BB962C8B-B14F-4D97-AF65-F5344CB8AC3E}">
        <p14:creationId xmlns:p14="http://schemas.microsoft.com/office/powerpoint/2010/main" val="2975061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FEC6A-B409-C148-D20B-E9278BFBC82C}"/>
              </a:ext>
            </a:extLst>
          </p:cNvPr>
          <p:cNvSpPr>
            <a:spLocks noGrp="1"/>
          </p:cNvSpPr>
          <p:nvPr>
            <p:ph type="title"/>
          </p:nvPr>
        </p:nvSpPr>
        <p:spPr>
          <a:xfrm>
            <a:off x="602373" y="457287"/>
            <a:ext cx="6866940" cy="611225"/>
          </a:xfrm>
        </p:spPr>
        <p:txBody>
          <a:bodyPr anchor="b">
            <a:normAutofit/>
          </a:bodyPr>
          <a:lstStyle/>
          <a:p>
            <a:r>
              <a:rPr lang="en-IN" sz="2800" dirty="0"/>
              <a:t>Dealing with Outliers in Property Prices</a:t>
            </a:r>
          </a:p>
        </p:txBody>
      </p:sp>
      <p:sp>
        <p:nvSpPr>
          <p:cNvPr id="3" name="Content Placeholder 2">
            <a:extLst>
              <a:ext uri="{FF2B5EF4-FFF2-40B4-BE49-F238E27FC236}">
                <a16:creationId xmlns:a16="http://schemas.microsoft.com/office/drawing/2014/main" id="{B2AE1F0E-6E92-E843-BE2A-A2521CADF57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5516" y="1214013"/>
            <a:ext cx="6339414" cy="1939349"/>
          </a:xfrm>
        </p:spPr>
        <p:txBody>
          <a:bodyPr>
            <a:normAutofit fontScale="92500"/>
          </a:bodyPr>
          <a:lstStyle/>
          <a:p>
            <a:pPr marL="0" indent="0">
              <a:spcBef>
                <a:spcPts val="2500"/>
              </a:spcBef>
              <a:buFont typeface="Arial" panose="020B0604020202020204" pitchFamily="34" charset="0"/>
              <a:buNone/>
            </a:pPr>
            <a:r>
              <a:rPr lang="en-US" sz="1400" b="1" dirty="0"/>
              <a:t>Impact of Outliers</a:t>
            </a:r>
          </a:p>
          <a:p>
            <a:pPr marL="0" lvl="1" indent="0">
              <a:buFont typeface="Arial" panose="020B0604020202020204" pitchFamily="34" charset="0"/>
              <a:buNone/>
            </a:pPr>
            <a:r>
              <a:rPr lang="en-US" sz="1400" dirty="0"/>
              <a:t>Outliers like luxury estates and foreclosures can distort pricing models and affect predictions adversely.</a:t>
            </a:r>
          </a:p>
          <a:p>
            <a:pPr marL="0" lvl="1" indent="0">
              <a:buFont typeface="Arial" panose="020B0604020202020204" pitchFamily="34" charset="0"/>
              <a:buNone/>
            </a:pPr>
            <a:r>
              <a:rPr lang="en-US" sz="1400" b="1" dirty="0"/>
              <a:t>Statistical Filtering Methods</a:t>
            </a:r>
          </a:p>
          <a:p>
            <a:pPr marL="0" lvl="1" indent="0">
              <a:buFont typeface="Arial" panose="020B0604020202020204" pitchFamily="34" charset="0"/>
              <a:buNone/>
            </a:pPr>
            <a:r>
              <a:rPr lang="en-US" sz="1400" dirty="0"/>
              <a:t>Used IQR clipping technique to help identify and remove outliers effectively.</a:t>
            </a:r>
          </a:p>
          <a:p>
            <a:pPr marL="0" lvl="1" indent="0">
              <a:buFont typeface="Arial" panose="020B0604020202020204" pitchFamily="34" charset="0"/>
              <a:buNone/>
            </a:pPr>
            <a:r>
              <a:rPr lang="en-US" sz="1400" b="1" dirty="0"/>
              <a:t>Transformation</a:t>
            </a:r>
          </a:p>
          <a:p>
            <a:pPr marL="0" lvl="1" indent="0">
              <a:buFont typeface="Arial" panose="020B0604020202020204" pitchFamily="34" charset="0"/>
              <a:buNone/>
            </a:pPr>
            <a:r>
              <a:rPr lang="en-US" sz="1400" dirty="0"/>
              <a:t>Tried log transformation to reduce outlier impact, enhancing model stability and interpretability.</a:t>
            </a:r>
          </a:p>
        </p:txBody>
      </p:sp>
      <p:pic>
        <p:nvPicPr>
          <p:cNvPr id="5" name="Content Placeholder 4" descr="Data visualization showing statistical methods for handling outliers in property price analysis">
            <a:extLst>
              <a:ext uri="{FF2B5EF4-FFF2-40B4-BE49-F238E27FC236}">
                <a16:creationId xmlns:a16="http://schemas.microsoft.com/office/drawing/2014/main" id="{68D74ED6-2BC1-4F1F-9049-1B23F25FA804}"/>
              </a:ext>
            </a:extLst>
          </p:cNvPr>
          <p:cNvPicPr>
            <a:picLocks noGrp="1" noChangeAspect="1"/>
          </p:cNvPicPr>
          <p:nvPr>
            <p:ph type="pic" sz="quarter" idx="13"/>
          </p:nvPr>
        </p:nvPicPr>
        <p:blipFill>
          <a:blip r:embed="rId3"/>
          <a:srcRect l="19733" r="35813" b="-1"/>
          <a:stretch>
            <a:fillRect/>
          </a:stretch>
        </p:blipFill>
        <p:spPr>
          <a:xfrm>
            <a:off x="7624831" y="10"/>
            <a:ext cx="4567169" cy="6857990"/>
          </a:xfrm>
          <a:solidFill>
            <a:srgbClr val="F3EBE8"/>
          </a:solidFill>
        </p:spPr>
      </p:pic>
      <p:pic>
        <p:nvPicPr>
          <p:cNvPr id="6" name="Picture 5">
            <a:extLst>
              <a:ext uri="{FF2B5EF4-FFF2-40B4-BE49-F238E27FC236}">
                <a16:creationId xmlns:a16="http://schemas.microsoft.com/office/drawing/2014/main" id="{26CE6974-2161-9C82-412D-83404E997823}"/>
              </a:ext>
            </a:extLst>
          </p:cNvPr>
          <p:cNvPicPr>
            <a:picLocks noChangeAspect="1"/>
          </p:cNvPicPr>
          <p:nvPr/>
        </p:nvPicPr>
        <p:blipFill>
          <a:blip r:embed="rId4"/>
          <a:stretch>
            <a:fillRect/>
          </a:stretch>
        </p:blipFill>
        <p:spPr>
          <a:xfrm>
            <a:off x="830998" y="3153362"/>
            <a:ext cx="6339414" cy="3530781"/>
          </a:xfrm>
          <a:prstGeom prst="rect">
            <a:avLst/>
          </a:prstGeom>
        </p:spPr>
      </p:pic>
    </p:spTree>
    <p:extLst>
      <p:ext uri="{BB962C8B-B14F-4D97-AF65-F5344CB8AC3E}">
        <p14:creationId xmlns:p14="http://schemas.microsoft.com/office/powerpoint/2010/main" val="11072178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3774A-F627-D61C-E501-291CEA3A0562}"/>
              </a:ext>
            </a:extLst>
          </p:cNvPr>
          <p:cNvSpPr>
            <a:spLocks noGrp="1"/>
          </p:cNvSpPr>
          <p:nvPr>
            <p:ph type="title"/>
          </p:nvPr>
        </p:nvSpPr>
        <p:spPr>
          <a:xfrm>
            <a:off x="612648" y="706802"/>
            <a:ext cx="4672584" cy="1269482"/>
          </a:xfrm>
        </p:spPr>
        <p:txBody>
          <a:bodyPr anchor="t">
            <a:normAutofit/>
          </a:bodyPr>
          <a:lstStyle/>
          <a:p>
            <a:r>
              <a:rPr lang="en-IN"/>
              <a:t>Feature Engineering for Real Estate Data</a:t>
            </a:r>
          </a:p>
        </p:txBody>
      </p:sp>
      <p:pic>
        <p:nvPicPr>
          <p:cNvPr id="5" name="Content Placeholder 4" descr="Real estate data analytics with charts, house icons, and feature engineering concepts">
            <a:extLst>
              <a:ext uri="{FF2B5EF4-FFF2-40B4-BE49-F238E27FC236}">
                <a16:creationId xmlns:a16="http://schemas.microsoft.com/office/drawing/2014/main" id="{38183CD7-21A6-4B0D-A6BC-30E2BA5A544F}"/>
              </a:ext>
            </a:extLst>
          </p:cNvPr>
          <p:cNvPicPr>
            <a:picLocks noGrp="1" noChangeAspect="1"/>
          </p:cNvPicPr>
          <p:nvPr>
            <p:ph type="pic" sz="quarter" idx="15"/>
          </p:nvPr>
        </p:nvPicPr>
        <p:blipFill>
          <a:blip r:embed="rId3"/>
          <a:stretch/>
        </p:blipFill>
        <p:spPr>
          <a:xfrm>
            <a:off x="612648" y="2517169"/>
            <a:ext cx="4488792" cy="3051650"/>
          </a:xfrm>
          <a:solidFill>
            <a:srgbClr val="F3EBE8"/>
          </a:solidFill>
        </p:spPr>
      </p:pic>
      <p:sp>
        <p:nvSpPr>
          <p:cNvPr id="3" name="Content Placeholder 2">
            <a:extLst>
              <a:ext uri="{FF2B5EF4-FFF2-40B4-BE49-F238E27FC236}">
                <a16:creationId xmlns:a16="http://schemas.microsoft.com/office/drawing/2014/main" id="{DD162916-6676-C94B-EAA8-3B4C04D9DB9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2" y="1397505"/>
            <a:ext cx="6053556" cy="2350092"/>
          </a:xfrm>
        </p:spPr>
        <p:txBody>
          <a:bodyPr>
            <a:normAutofit fontScale="85000" lnSpcReduction="20000"/>
          </a:bodyPr>
          <a:lstStyle/>
          <a:p>
            <a:pPr marL="0" indent="0">
              <a:spcBef>
                <a:spcPts val="2500"/>
              </a:spcBef>
              <a:buFont typeface="Arial" panose="020B0604020202020204" pitchFamily="34" charset="0"/>
              <a:buNone/>
            </a:pPr>
            <a:r>
              <a:rPr lang="en-US" sz="1400" b="1" dirty="0"/>
              <a:t>Key Numerical Features</a:t>
            </a:r>
          </a:p>
          <a:p>
            <a:pPr marL="0" lvl="1" indent="0">
              <a:buNone/>
            </a:pPr>
            <a:r>
              <a:rPr lang="en-US" sz="1400" dirty="0"/>
              <a:t>Numerical features like price per square foot and property age (</a:t>
            </a:r>
            <a:r>
              <a:rPr lang="en-US" sz="1400" dirty="0" err="1"/>
              <a:t>LotArea</a:t>
            </a:r>
            <a:r>
              <a:rPr lang="en-US" sz="1400" dirty="0"/>
              <a:t>, </a:t>
            </a:r>
            <a:r>
              <a:rPr lang="en-US" sz="1400" dirty="0" err="1"/>
              <a:t>OverallQual</a:t>
            </a:r>
            <a:r>
              <a:rPr lang="en-US" sz="1400" dirty="0"/>
              <a:t>, </a:t>
            </a:r>
            <a:r>
              <a:rPr lang="en-US" sz="1400" dirty="0" err="1"/>
              <a:t>YearBuilt</a:t>
            </a:r>
            <a:r>
              <a:rPr lang="en-US" sz="1400" dirty="0"/>
              <a:t>, </a:t>
            </a:r>
            <a:r>
              <a:rPr lang="en-US" sz="1400" dirty="0" err="1"/>
              <a:t>YearRemodAdd</a:t>
            </a:r>
            <a:r>
              <a:rPr lang="en-US" sz="1400" dirty="0"/>
              <a:t>, </a:t>
            </a:r>
            <a:r>
              <a:rPr lang="en-US" sz="1400" dirty="0" err="1"/>
              <a:t>TotalBsmtSF</a:t>
            </a:r>
            <a:r>
              <a:rPr lang="en-US" sz="1400" dirty="0"/>
              <a:t>, </a:t>
            </a:r>
            <a:r>
              <a:rPr lang="en-US" sz="1400" dirty="0" err="1"/>
              <a:t>GrLivArea</a:t>
            </a:r>
            <a:r>
              <a:rPr lang="en-US" sz="1400" dirty="0"/>
              <a:t>, </a:t>
            </a:r>
            <a:r>
              <a:rPr lang="en-US" sz="1400" dirty="0" err="1"/>
              <a:t>BsmtFullBath</a:t>
            </a:r>
            <a:r>
              <a:rPr lang="en-US" sz="1400" dirty="0"/>
              <a:t>, </a:t>
            </a:r>
            <a:r>
              <a:rPr lang="en-US" sz="1400" dirty="0" err="1"/>
              <a:t>BsmtHalfBath</a:t>
            </a:r>
            <a:r>
              <a:rPr lang="en-US" sz="1400" dirty="0"/>
              <a:t>,  </a:t>
            </a:r>
            <a:r>
              <a:rPr lang="en-US" sz="1400" dirty="0" err="1"/>
              <a:t>GarageCars</a:t>
            </a:r>
            <a:r>
              <a:rPr lang="en-US" sz="1400" dirty="0"/>
              <a:t>, </a:t>
            </a:r>
            <a:r>
              <a:rPr lang="en-US" sz="1400" dirty="0" err="1"/>
              <a:t>GarageArea</a:t>
            </a:r>
            <a:r>
              <a:rPr lang="en-US" sz="1400" dirty="0"/>
              <a:t>, </a:t>
            </a:r>
            <a:r>
              <a:rPr lang="en-US" sz="1400" dirty="0" err="1"/>
              <a:t>MiscVal</a:t>
            </a:r>
            <a:r>
              <a:rPr lang="en-US" sz="1400" dirty="0"/>
              <a:t>, </a:t>
            </a:r>
            <a:r>
              <a:rPr lang="en-US" sz="1400" dirty="0" err="1"/>
              <a:t>SalePrice</a:t>
            </a:r>
            <a:r>
              <a:rPr lang="en-US" sz="1400" dirty="0"/>
              <a:t>) enhance predictive accuracy of real estate models. </a:t>
            </a:r>
          </a:p>
          <a:p>
            <a:pPr marL="0" lvl="1" indent="0">
              <a:buFont typeface="Arial" panose="020B0604020202020204" pitchFamily="34" charset="0"/>
              <a:buNone/>
            </a:pPr>
            <a:r>
              <a:rPr lang="en-US" sz="1400" b="1" dirty="0"/>
              <a:t>Categorical Features</a:t>
            </a:r>
          </a:p>
          <a:p>
            <a:pPr marL="0" lvl="1" indent="0">
              <a:buNone/>
            </a:pPr>
            <a:r>
              <a:rPr lang="en-US" sz="1400" dirty="0"/>
              <a:t>Key Categorical features like </a:t>
            </a:r>
            <a:r>
              <a:rPr lang="en-US" sz="1400" dirty="0" err="1"/>
              <a:t>MSZoning</a:t>
            </a:r>
            <a:r>
              <a:rPr lang="en-US" sz="1400" dirty="0"/>
              <a:t>, </a:t>
            </a:r>
            <a:r>
              <a:rPr lang="en-US" sz="1400" dirty="0" err="1"/>
              <a:t>LotShape</a:t>
            </a:r>
            <a:r>
              <a:rPr lang="en-US" sz="1400" dirty="0"/>
              <a:t>, Utilities, Neighborhood, </a:t>
            </a:r>
            <a:r>
              <a:rPr lang="en-US" sz="1400" dirty="0" err="1"/>
              <a:t>HouseStyle</a:t>
            </a:r>
            <a:r>
              <a:rPr lang="en-US" sz="1400" dirty="0"/>
              <a:t>, </a:t>
            </a:r>
            <a:r>
              <a:rPr lang="en-US" sz="1400" dirty="0" err="1"/>
              <a:t>MiscFeature</a:t>
            </a:r>
            <a:r>
              <a:rPr lang="en-US" sz="1400" dirty="0"/>
              <a:t>, Sale Type enhance predictive accuracy of real estate models.</a:t>
            </a:r>
          </a:p>
          <a:p>
            <a:pPr marL="0" lvl="1" indent="0">
              <a:buNone/>
            </a:pPr>
            <a:r>
              <a:rPr lang="en-US" sz="1400" b="1" dirty="0"/>
              <a:t>Socioeconomic Factors</a:t>
            </a:r>
          </a:p>
          <a:p>
            <a:pPr marL="0" lvl="1" indent="0">
              <a:buFont typeface="Arial" panose="020B0604020202020204" pitchFamily="34" charset="0"/>
              <a:buNone/>
            </a:pPr>
            <a:r>
              <a:rPr lang="en-US" sz="1400" dirty="0"/>
              <a:t>Proximity to amenities and neighborhood socioeconomic indices provide critical context for property valuation.</a:t>
            </a:r>
          </a:p>
        </p:txBody>
      </p:sp>
      <p:pic>
        <p:nvPicPr>
          <p:cNvPr id="6" name="Picture 5">
            <a:extLst>
              <a:ext uri="{FF2B5EF4-FFF2-40B4-BE49-F238E27FC236}">
                <a16:creationId xmlns:a16="http://schemas.microsoft.com/office/drawing/2014/main" id="{41755472-58B2-D717-67D9-B2E6065771E4}"/>
              </a:ext>
            </a:extLst>
          </p:cNvPr>
          <p:cNvPicPr>
            <a:picLocks noChangeAspect="1"/>
          </p:cNvPicPr>
          <p:nvPr/>
        </p:nvPicPr>
        <p:blipFill>
          <a:blip r:embed="rId4"/>
          <a:stretch>
            <a:fillRect/>
          </a:stretch>
        </p:blipFill>
        <p:spPr>
          <a:xfrm>
            <a:off x="5992893" y="3963256"/>
            <a:ext cx="5878895" cy="2077948"/>
          </a:xfrm>
          <a:prstGeom prst="rect">
            <a:avLst/>
          </a:prstGeom>
        </p:spPr>
      </p:pic>
    </p:spTree>
    <p:extLst>
      <p:ext uri="{BB962C8B-B14F-4D97-AF65-F5344CB8AC3E}">
        <p14:creationId xmlns:p14="http://schemas.microsoft.com/office/powerpoint/2010/main" val="3479331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3D92D-C8E5-BF1B-6276-A89D094CAD34}"/>
              </a:ext>
            </a:extLst>
          </p:cNvPr>
          <p:cNvSpPr>
            <a:spLocks noGrp="1"/>
          </p:cNvSpPr>
          <p:nvPr>
            <p:ph type="ctrTitle"/>
          </p:nvPr>
        </p:nvSpPr>
        <p:spPr>
          <a:xfrm>
            <a:off x="1522013" y="1282325"/>
            <a:ext cx="8893834" cy="3988550"/>
          </a:xfrm>
        </p:spPr>
        <p:txBody>
          <a:bodyPr anchor="ctr">
            <a:normAutofit/>
          </a:bodyPr>
          <a:lstStyle/>
          <a:p>
            <a:r>
              <a:rPr lang="en-IN" dirty="0"/>
              <a:t>Univariate, Bivariate and Multivariate Analysis</a:t>
            </a:r>
          </a:p>
        </p:txBody>
      </p:sp>
    </p:spTree>
    <p:extLst>
      <p:ext uri="{BB962C8B-B14F-4D97-AF65-F5344CB8AC3E}">
        <p14:creationId xmlns:p14="http://schemas.microsoft.com/office/powerpoint/2010/main" val="11070136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B573-3F18-922A-E89E-6E63D8A67010}"/>
              </a:ext>
            </a:extLst>
          </p:cNvPr>
          <p:cNvSpPr>
            <a:spLocks noGrp="1"/>
          </p:cNvSpPr>
          <p:nvPr>
            <p:ph type="title"/>
          </p:nvPr>
        </p:nvSpPr>
        <p:spPr>
          <a:xfrm>
            <a:off x="459767" y="410816"/>
            <a:ext cx="7420512" cy="693996"/>
          </a:xfrm>
        </p:spPr>
        <p:txBody>
          <a:bodyPr anchor="b">
            <a:noAutofit/>
          </a:bodyPr>
          <a:lstStyle/>
          <a:p>
            <a:r>
              <a:rPr lang="en-IN" sz="2800" dirty="0"/>
              <a:t>Analysing Key Variables (Price, Size, Location)</a:t>
            </a:r>
          </a:p>
        </p:txBody>
      </p:sp>
      <p:sp>
        <p:nvSpPr>
          <p:cNvPr id="3" name="Content Placeholder 2">
            <a:extLst>
              <a:ext uri="{FF2B5EF4-FFF2-40B4-BE49-F238E27FC236}">
                <a16:creationId xmlns:a16="http://schemas.microsoft.com/office/drawing/2014/main" id="{0D6AA462-52CD-184A-9FE4-FDC65DDC758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9767" y="1196118"/>
            <a:ext cx="7069502" cy="2050515"/>
          </a:xfrm>
        </p:spPr>
        <p:txBody>
          <a:bodyPr>
            <a:normAutofit fontScale="85000" lnSpcReduction="20000"/>
          </a:bodyPr>
          <a:lstStyle/>
          <a:p>
            <a:pPr marL="0" indent="0">
              <a:spcBef>
                <a:spcPts val="2500"/>
              </a:spcBef>
              <a:buFont typeface="Arial" panose="020B0604020202020204" pitchFamily="34" charset="0"/>
              <a:buNone/>
            </a:pPr>
            <a:r>
              <a:rPr lang="en-US" sz="1400" b="1" dirty="0"/>
              <a:t>Price Distribution Patterns</a:t>
            </a:r>
          </a:p>
          <a:p>
            <a:pPr marL="0" lvl="1" indent="0">
              <a:buFont typeface="Arial" panose="020B0604020202020204" pitchFamily="34" charset="0"/>
              <a:buNone/>
            </a:pPr>
            <a:r>
              <a:rPr lang="en-US" sz="1400" dirty="0"/>
              <a:t>Property prices are right-skewed due to the influence of high-end listings in the market.</a:t>
            </a:r>
          </a:p>
          <a:p>
            <a:pPr marL="0" lvl="1" indent="0">
              <a:buFont typeface="Arial" panose="020B0604020202020204" pitchFamily="34" charset="0"/>
              <a:buNone/>
            </a:pPr>
            <a:r>
              <a:rPr lang="en-US" sz="1400" b="1" dirty="0"/>
              <a:t>Correlation Between Size and Price</a:t>
            </a:r>
          </a:p>
          <a:p>
            <a:pPr marL="0" lvl="1" indent="0">
              <a:buFont typeface="Arial" panose="020B0604020202020204" pitchFamily="34" charset="0"/>
              <a:buNone/>
            </a:pPr>
            <a:r>
              <a:rPr lang="en-US" sz="1400" dirty="0"/>
              <a:t>Property size generally correlates with Sale price but shows variations.</a:t>
            </a:r>
          </a:p>
          <a:p>
            <a:pPr marL="0" lvl="1" indent="0">
              <a:buFont typeface="Arial" panose="020B0604020202020204" pitchFamily="34" charset="0"/>
              <a:buNone/>
            </a:pPr>
            <a:r>
              <a:rPr lang="en-US" sz="1400" b="1" dirty="0"/>
              <a:t>Impact of Location on Value</a:t>
            </a:r>
          </a:p>
          <a:p>
            <a:pPr marL="0" lvl="1" indent="0">
              <a:buFont typeface="Arial" panose="020B0604020202020204" pitchFamily="34" charset="0"/>
              <a:buNone/>
            </a:pPr>
            <a:r>
              <a:rPr lang="en-US" sz="1400" dirty="0"/>
              <a:t>Location influences property value through accessibility, neighborhood quality.</a:t>
            </a:r>
          </a:p>
          <a:p>
            <a:pPr marL="0" lvl="1" indent="0">
              <a:buFont typeface="Arial" panose="020B0604020202020204" pitchFamily="34" charset="0"/>
              <a:buNone/>
            </a:pPr>
            <a:r>
              <a:rPr lang="en-US" sz="1400" b="1" dirty="0"/>
              <a:t>Use of Statistical Summaries</a:t>
            </a:r>
          </a:p>
          <a:p>
            <a:pPr marL="0" lvl="1" indent="0">
              <a:buFont typeface="Arial" panose="020B0604020202020204" pitchFamily="34" charset="0"/>
              <a:buNone/>
            </a:pPr>
            <a:r>
              <a:rPr lang="en-US" sz="1400" dirty="0"/>
              <a:t>Statistical summaries and boxplots help identify typical versus a typical property characteristics by showing data spread.</a:t>
            </a:r>
          </a:p>
        </p:txBody>
      </p:sp>
      <p:pic>
        <p:nvPicPr>
          <p:cNvPr id="5" name="Content Placeholder 4" descr="Real estate analytics with price charts, property size comparisons, and neighborhood maps">
            <a:extLst>
              <a:ext uri="{FF2B5EF4-FFF2-40B4-BE49-F238E27FC236}">
                <a16:creationId xmlns:a16="http://schemas.microsoft.com/office/drawing/2014/main" id="{46FB4CE6-E506-4C9B-90F7-2402BD503F88}"/>
              </a:ext>
            </a:extLst>
          </p:cNvPr>
          <p:cNvPicPr>
            <a:picLocks noGrp="1" noChangeAspect="1"/>
          </p:cNvPicPr>
          <p:nvPr>
            <p:ph type="pic" sz="quarter" idx="13"/>
          </p:nvPr>
        </p:nvPicPr>
        <p:blipFill>
          <a:blip r:embed="rId3"/>
          <a:srcRect l="20478" r="39613" b="-1"/>
          <a:stretch>
            <a:fillRect/>
          </a:stretch>
        </p:blipFill>
        <p:spPr>
          <a:xfrm>
            <a:off x="8091732" y="10"/>
            <a:ext cx="4100267" cy="6857990"/>
          </a:xfrm>
          <a:solidFill>
            <a:srgbClr val="F3EBE8"/>
          </a:solidFill>
        </p:spPr>
      </p:pic>
      <p:sp>
        <p:nvSpPr>
          <p:cNvPr id="4" name="Content Placeholder 2">
            <a:extLst>
              <a:ext uri="{FF2B5EF4-FFF2-40B4-BE49-F238E27FC236}">
                <a16:creationId xmlns:a16="http://schemas.microsoft.com/office/drawing/2014/main" id="{69C78C05-FC59-1A9B-8014-CD937EDA3DEB}"/>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3246633"/>
            <a:ext cx="6858000" cy="311026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
        <p:nvSpPr>
          <p:cNvPr id="6" name="Title 1">
            <a:extLst>
              <a:ext uri="{FF2B5EF4-FFF2-40B4-BE49-F238E27FC236}">
                <a16:creationId xmlns:a16="http://schemas.microsoft.com/office/drawing/2014/main" id="{46CE3FEE-C534-15E2-9EDF-81A2417729C9}"/>
              </a:ext>
            </a:extLst>
          </p:cNvPr>
          <p:cNvSpPr txBox="1">
            <a:spLocks/>
          </p:cNvSpPr>
          <p:nvPr/>
        </p:nvSpPr>
        <p:spPr>
          <a:xfrm>
            <a:off x="459767" y="3337939"/>
            <a:ext cx="7278410" cy="514870"/>
          </a:xfrm>
          <a:prstGeom prst="rect">
            <a:avLst/>
          </a:prstGeom>
        </p:spPr>
        <p:txBody>
          <a:bodyPr vert="horz" lIns="91440" tIns="45720" rIns="91440" bIns="45720" rtlCol="0" anchor="b">
            <a:normAutofit fontScale="97500"/>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r>
              <a:rPr lang="en-IN" sz="2400" dirty="0"/>
              <a:t>Univariate Analysis</a:t>
            </a:r>
          </a:p>
        </p:txBody>
      </p:sp>
      <p:sp>
        <p:nvSpPr>
          <p:cNvPr id="8" name="TextBox 7">
            <a:extLst>
              <a:ext uri="{FF2B5EF4-FFF2-40B4-BE49-F238E27FC236}">
                <a16:creationId xmlns:a16="http://schemas.microsoft.com/office/drawing/2014/main" id="{D1A698C7-190E-AA45-05B2-E464AA48C761}"/>
              </a:ext>
            </a:extLst>
          </p:cNvPr>
          <p:cNvSpPr txBox="1"/>
          <p:nvPr/>
        </p:nvSpPr>
        <p:spPr>
          <a:xfrm>
            <a:off x="459767" y="3987819"/>
            <a:ext cx="7278409" cy="2151871"/>
          </a:xfrm>
          <a:prstGeom prst="rect">
            <a:avLst/>
          </a:prstGeom>
          <a:noFill/>
        </p:spPr>
        <p:txBody>
          <a:bodyPr wrap="square">
            <a:spAutoFit/>
          </a:bodyPr>
          <a:lstStyle/>
          <a:p>
            <a:pPr marL="171450" indent="-171450">
              <a:buFont typeface="Arial" panose="020B0604020202020204" pitchFamily="34" charset="0"/>
              <a:buChar char="•"/>
            </a:pPr>
            <a:r>
              <a:rPr lang="en-US" sz="1200" dirty="0"/>
              <a:t>Numerical columns exhibit varying degrees of skewness, with some being positively skewed, indicating a longer tail on the right side of the distribution.</a:t>
            </a:r>
          </a:p>
          <a:p>
            <a:pPr marL="171450" indent="-171450">
              <a:buFont typeface="Arial" panose="020B0604020202020204" pitchFamily="34" charset="0"/>
              <a:buChar char="•"/>
            </a:pPr>
            <a:r>
              <a:rPr lang="en-US" sz="1200" dirty="0"/>
              <a:t>Several numerical columns contain outliers, which may impact statistical analysis and model performance.</a:t>
            </a:r>
          </a:p>
          <a:p>
            <a:pPr marL="171450" indent="-171450">
              <a:spcAft>
                <a:spcPts val="100"/>
              </a:spcAft>
              <a:buFont typeface="Arial" panose="020B0604020202020204" pitchFamily="34" charset="0"/>
              <a:buChar char="•"/>
            </a:pPr>
            <a:r>
              <a:rPr lang="en-US" sz="1200" dirty="0"/>
              <a:t>Categorical columns show diverse distributions, with some categories being more prevalent than others, suggesting potential class imbalances.</a:t>
            </a:r>
          </a:p>
          <a:p>
            <a:pPr marL="171450" indent="-171450">
              <a:buFont typeface="Arial" panose="020B0604020202020204" pitchFamily="34" charset="0"/>
              <a:buChar char="•"/>
            </a:pPr>
            <a:r>
              <a:rPr lang="en-US" sz="1200" dirty="0"/>
              <a:t>The skewness and kurtosis values provide insights into the shape of the distributions, which can inform data transformation strategies.</a:t>
            </a:r>
          </a:p>
          <a:p>
            <a:pPr marL="171450" indent="-171450">
              <a:buFont typeface="Arial" panose="020B0604020202020204" pitchFamily="34" charset="0"/>
              <a:buChar char="•"/>
            </a:pPr>
            <a:r>
              <a:rPr lang="en-US" sz="1200" dirty="0"/>
              <a:t>Categorical data distributions highlight the need for careful consideration of class representation in modeling tasks.</a:t>
            </a:r>
          </a:p>
          <a:p>
            <a:pPr marL="171450" indent="-171450">
              <a:buFont typeface="Arial" panose="020B0604020202020204" pitchFamily="34" charset="0"/>
              <a:buChar char="•"/>
            </a:pPr>
            <a:r>
              <a:rPr lang="en-US" sz="1200" dirty="0"/>
              <a:t>Overall, the dataset exhibits a mix of numerical and </a:t>
            </a:r>
            <a:r>
              <a:rPr lang="en-US" sz="1300" dirty="0"/>
              <a:t>categorical</a:t>
            </a:r>
            <a:r>
              <a:rPr lang="en-US" sz="1200" dirty="0"/>
              <a:t> features, each requiring tailored analysis approaches.</a:t>
            </a:r>
          </a:p>
          <a:p>
            <a:pPr marL="171450" indent="-171450">
              <a:buFont typeface="Arial" panose="020B0604020202020204" pitchFamily="34" charset="0"/>
              <a:buChar char="•"/>
            </a:pPr>
            <a:r>
              <a:rPr lang="en-US" sz="1200" dirty="0"/>
              <a:t>EDA should consider these insights for effective data preprocessing and modeling strategies.</a:t>
            </a:r>
          </a:p>
          <a:p>
            <a:pPr marL="171450" indent="-171450">
              <a:buFont typeface="Arial" panose="020B0604020202020204" pitchFamily="34" charset="0"/>
              <a:buChar char="•"/>
            </a:pPr>
            <a:r>
              <a:rPr lang="en-US" sz="1200" dirty="0"/>
              <a:t>Further analysis may be needed to explore relationships between variables and their impact on target outcomes.</a:t>
            </a:r>
          </a:p>
        </p:txBody>
      </p:sp>
    </p:spTree>
    <p:extLst>
      <p:ext uri="{BB962C8B-B14F-4D97-AF65-F5344CB8AC3E}">
        <p14:creationId xmlns:p14="http://schemas.microsoft.com/office/powerpoint/2010/main" val="20371221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250"/>
                                  </p:stCondLst>
                                  <p:endCondLst>
                                    <p:cond evt="begin" delay="0">
                                      <p:tn val="10"/>
                                    </p:cond>
                                  </p:endCondLst>
                                  <p:iterate>
                                    <p:tmPct val="10000"/>
                                  </p:iterate>
                                  <p:childTnLst>
                                    <p:set>
                                      <p:cBhvr>
                                        <p:cTn id="11" dur="1" fill="hold">
                                          <p:stCondLst>
                                            <p:cond delay="0"/>
                                          </p:stCondLst>
                                        </p:cTn>
                                        <p:tgtEl>
                                          <p:spTgt spid="4"/>
                                        </p:tgtEl>
                                        <p:attrNameLst>
                                          <p:attrName>style.visibility</p:attrName>
                                        </p:attrNameLst>
                                      </p:cBhvr>
                                      <p:to>
                                        <p:strVal val="visible"/>
                                      </p:to>
                                    </p:set>
                                    <p:animEffect transition="in" filter="fade">
                                      <p:cBhvr>
                                        <p:cTn id="12" dur="250"/>
                                        <p:tgtEl>
                                          <p:spTgt spid="4"/>
                                        </p:tgtEl>
                                      </p:cBhvr>
                                    </p:animEffect>
                                    <p:anim calcmode="lin" valueType="num">
                                      <p:cBhvr>
                                        <p:cTn id="13" dur="250" fill="hold"/>
                                        <p:tgtEl>
                                          <p:spTgt spid="4"/>
                                        </p:tgtEl>
                                        <p:attrNameLst>
                                          <p:attrName>ppt_x</p:attrName>
                                        </p:attrNameLst>
                                      </p:cBhvr>
                                      <p:tavLst>
                                        <p:tav tm="0">
                                          <p:val>
                                            <p:strVal val="#ppt_x"/>
                                          </p:val>
                                        </p:tav>
                                        <p:tav tm="100000">
                                          <p:val>
                                            <p:strVal val="#ppt_x"/>
                                          </p:val>
                                        </p:tav>
                                      </p:tavLst>
                                    </p:anim>
                                    <p:anim calcmode="lin" valueType="num">
                                      <p:cBhvr>
                                        <p:cTn id="14"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DB4AEF-7C8E-959A-CAA6-A7BC53A5439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1402" y="433980"/>
            <a:ext cx="6743523" cy="5370919"/>
          </a:xfrm>
        </p:spPr>
        <p:txBody>
          <a:bodyPr>
            <a:normAutofit fontScale="62500" lnSpcReduction="20000"/>
          </a:bodyPr>
          <a:lstStyle/>
          <a:p>
            <a:pPr marL="0" indent="0">
              <a:spcBef>
                <a:spcPts val="0"/>
              </a:spcBef>
              <a:buNone/>
            </a:pPr>
            <a:r>
              <a:rPr lang="en-IN" sz="1900" b="1" dirty="0"/>
              <a:t>Visualization Pattern:</a:t>
            </a:r>
          </a:p>
          <a:p>
            <a:pPr>
              <a:spcBef>
                <a:spcPts val="0"/>
              </a:spcBef>
            </a:pPr>
            <a:r>
              <a:rPr lang="en-IN" dirty="0"/>
              <a:t>Numerical Columns: </a:t>
            </a:r>
            <a:r>
              <a:rPr lang="en-US" dirty="0"/>
              <a:t>Histogram (for distribution) &amp; Boxplot (for outliers)</a:t>
            </a:r>
          </a:p>
          <a:p>
            <a:pPr>
              <a:spcBef>
                <a:spcPts val="0"/>
              </a:spcBef>
            </a:pPr>
            <a:r>
              <a:rPr lang="en-US" dirty="0"/>
              <a:t>Categorical Columns: Bar Plot</a:t>
            </a:r>
          </a:p>
          <a:p>
            <a:pPr>
              <a:spcBef>
                <a:spcPts val="0"/>
              </a:spcBef>
            </a:pPr>
            <a:endParaRPr lang="en-US" sz="1400" dirty="0"/>
          </a:p>
          <a:p>
            <a:pPr marL="0" indent="0">
              <a:spcBef>
                <a:spcPts val="0"/>
              </a:spcBef>
              <a:buNone/>
            </a:pPr>
            <a:r>
              <a:rPr lang="en-US" sz="1900" b="1" dirty="0"/>
              <a:t>Overall Summary:</a:t>
            </a:r>
          </a:p>
          <a:p>
            <a:pPr marL="0" indent="0">
              <a:spcBef>
                <a:spcPts val="0"/>
              </a:spcBef>
              <a:buNone/>
            </a:pPr>
            <a:r>
              <a:rPr lang="en-US" b="1" dirty="0"/>
              <a:t>       For Numerical Columns-</a:t>
            </a:r>
          </a:p>
          <a:p>
            <a:pPr marL="0" indent="0">
              <a:spcBef>
                <a:spcPts val="0"/>
              </a:spcBef>
              <a:buNone/>
            </a:pPr>
            <a:r>
              <a:rPr lang="en-US" dirty="0"/>
              <a:t>1</a:t>
            </a:r>
            <a:r>
              <a:rPr lang="en-US" i="1" dirty="0"/>
              <a:t>. </a:t>
            </a:r>
            <a:r>
              <a:rPr lang="en-US" i="1" dirty="0">
                <a:highlight>
                  <a:srgbClr val="00FFFF"/>
                </a:highlight>
              </a:rPr>
              <a:t>low skewness, low kurtosis, and few outliers </a:t>
            </a:r>
            <a:r>
              <a:rPr lang="en-US" dirty="0">
                <a:highlight>
                  <a:srgbClr val="00FFFF"/>
                </a:highlight>
              </a:rPr>
              <a:t>: </a:t>
            </a:r>
            <a:r>
              <a:rPr lang="en-US" dirty="0" err="1"/>
              <a:t>LotFrontage</a:t>
            </a:r>
            <a:r>
              <a:rPr lang="en-US" dirty="0"/>
              <a:t>, </a:t>
            </a:r>
            <a:r>
              <a:rPr lang="en-US" dirty="0" err="1"/>
              <a:t>OverallQual</a:t>
            </a:r>
            <a:r>
              <a:rPr lang="en-US" dirty="0"/>
              <a:t>, </a:t>
            </a:r>
            <a:r>
              <a:rPr lang="en-US" dirty="0" err="1"/>
              <a:t>FullBath</a:t>
            </a:r>
            <a:r>
              <a:rPr lang="en-US" dirty="0"/>
              <a:t>, </a:t>
            </a:r>
            <a:r>
              <a:rPr lang="en-US" dirty="0" err="1"/>
              <a:t>BedroomAbvGr</a:t>
            </a:r>
            <a:r>
              <a:rPr lang="en-US" dirty="0"/>
              <a:t>, </a:t>
            </a:r>
            <a:r>
              <a:rPr lang="en-US" dirty="0" err="1"/>
              <a:t>GarageCars</a:t>
            </a:r>
            <a:r>
              <a:rPr lang="en-US" dirty="0"/>
              <a:t>, </a:t>
            </a:r>
            <a:r>
              <a:rPr lang="en-US" dirty="0" err="1"/>
              <a:t>GarageArea</a:t>
            </a:r>
            <a:r>
              <a:rPr lang="en-US" dirty="0"/>
              <a:t>.  These </a:t>
            </a:r>
            <a:r>
              <a:rPr lang="en-US" dirty="0" err="1"/>
              <a:t>demonstates</a:t>
            </a:r>
            <a:r>
              <a:rPr lang="en-US" dirty="0"/>
              <a:t> </a:t>
            </a:r>
            <a:r>
              <a:rPr lang="en-US" dirty="0" err="1"/>
              <a:t>symmtric</a:t>
            </a:r>
            <a:r>
              <a:rPr lang="en-US" dirty="0"/>
              <a:t> </a:t>
            </a:r>
            <a:r>
              <a:rPr lang="en-US" dirty="0" err="1"/>
              <a:t>districbution</a:t>
            </a:r>
            <a:r>
              <a:rPr lang="en-US" dirty="0"/>
              <a:t>, so less processing required</a:t>
            </a:r>
          </a:p>
          <a:p>
            <a:pPr marL="0" indent="0">
              <a:spcBef>
                <a:spcPts val="0"/>
              </a:spcBef>
              <a:buNone/>
            </a:pPr>
            <a:r>
              <a:rPr lang="en-US" dirty="0"/>
              <a:t>2. </a:t>
            </a:r>
            <a:r>
              <a:rPr lang="en-US" i="1" dirty="0">
                <a:highlight>
                  <a:srgbClr val="00FFFF"/>
                </a:highlight>
              </a:rPr>
              <a:t>Moderately Skewed Features (</a:t>
            </a:r>
            <a:r>
              <a:rPr lang="en-US" i="1" dirty="0" err="1">
                <a:highlight>
                  <a:srgbClr val="00FFFF"/>
                </a:highlight>
              </a:rPr>
              <a:t>Noticiable</a:t>
            </a:r>
            <a:r>
              <a:rPr lang="en-US" i="1" dirty="0">
                <a:highlight>
                  <a:srgbClr val="00FFFF"/>
                </a:highlight>
              </a:rPr>
              <a:t> yet </a:t>
            </a:r>
            <a:r>
              <a:rPr lang="en-US" i="1" dirty="0" err="1">
                <a:highlight>
                  <a:srgbClr val="00FFFF"/>
                </a:highlight>
              </a:rPr>
              <a:t>managible</a:t>
            </a:r>
            <a:r>
              <a:rPr lang="en-US" i="1" dirty="0">
                <a:highlight>
                  <a:srgbClr val="00FFFF"/>
                </a:highlight>
              </a:rPr>
              <a:t>) </a:t>
            </a:r>
            <a:r>
              <a:rPr lang="en-US" i="1" dirty="0"/>
              <a:t>: </a:t>
            </a:r>
            <a:r>
              <a:rPr lang="en-US" dirty="0" err="1"/>
              <a:t>OverallCond</a:t>
            </a:r>
            <a:r>
              <a:rPr lang="en-US" dirty="0"/>
              <a:t>,  </a:t>
            </a:r>
            <a:r>
              <a:rPr lang="en-US" dirty="0" err="1"/>
              <a:t>YearBuilt</a:t>
            </a:r>
            <a:r>
              <a:rPr lang="en-US" dirty="0"/>
              <a:t>,  </a:t>
            </a:r>
            <a:r>
              <a:rPr lang="en-US" dirty="0" err="1"/>
              <a:t>YearRemodAdd</a:t>
            </a:r>
            <a:r>
              <a:rPr lang="en-US" dirty="0"/>
              <a:t>,   </a:t>
            </a:r>
            <a:r>
              <a:rPr lang="en-US" dirty="0" err="1"/>
              <a:t>BsmtUnfSF</a:t>
            </a:r>
            <a:r>
              <a:rPr lang="en-US" dirty="0"/>
              <a:t>,  2ndFlrSF,   </a:t>
            </a:r>
            <a:r>
              <a:rPr lang="en-US" dirty="0" err="1"/>
              <a:t>BsmtFullBath</a:t>
            </a:r>
            <a:r>
              <a:rPr lang="en-US" dirty="0"/>
              <a:t>,   </a:t>
            </a:r>
            <a:r>
              <a:rPr lang="en-US" dirty="0" err="1"/>
              <a:t>HalfBath</a:t>
            </a:r>
            <a:r>
              <a:rPr lang="en-US" dirty="0"/>
              <a:t>,   </a:t>
            </a:r>
            <a:r>
              <a:rPr lang="en-US" dirty="0" err="1"/>
              <a:t>TotRmsAbvGrd</a:t>
            </a:r>
            <a:r>
              <a:rPr lang="en-US" dirty="0"/>
              <a:t>,   Fireplaces, </a:t>
            </a:r>
            <a:r>
              <a:rPr lang="en-US" dirty="0" err="1"/>
              <a:t>GarageYrBlt</a:t>
            </a:r>
            <a:endParaRPr lang="en-US" dirty="0"/>
          </a:p>
          <a:p>
            <a:pPr marL="0" indent="0">
              <a:spcBef>
                <a:spcPts val="0"/>
              </a:spcBef>
              <a:buNone/>
            </a:pPr>
            <a:r>
              <a:rPr lang="en-US" dirty="0"/>
              <a:t>3</a:t>
            </a:r>
            <a:r>
              <a:rPr lang="en-US" dirty="0">
                <a:highlight>
                  <a:srgbClr val="00FFFF"/>
                </a:highlight>
              </a:rPr>
              <a:t>. </a:t>
            </a:r>
            <a:r>
              <a:rPr lang="en-US" i="1" dirty="0">
                <a:highlight>
                  <a:srgbClr val="00FFFF"/>
                </a:highlight>
              </a:rPr>
              <a:t>High skewness, very high kurtosis, and many outliers </a:t>
            </a:r>
            <a:r>
              <a:rPr lang="en-US" dirty="0"/>
              <a:t>: </a:t>
            </a:r>
            <a:r>
              <a:rPr lang="en-US" dirty="0" err="1"/>
              <a:t>LotArea</a:t>
            </a:r>
            <a:r>
              <a:rPr lang="en-US" dirty="0"/>
              <a:t>,  </a:t>
            </a:r>
            <a:r>
              <a:rPr lang="en-US" dirty="0" err="1"/>
              <a:t>MasVnrArea</a:t>
            </a:r>
            <a:r>
              <a:rPr lang="en-US" dirty="0"/>
              <a:t>, BsmtFinSF1, BsmtFinSF2, </a:t>
            </a:r>
            <a:r>
              <a:rPr lang="en-US" dirty="0" err="1"/>
              <a:t>TotalBsmtSF</a:t>
            </a:r>
            <a:r>
              <a:rPr lang="en-US" dirty="0"/>
              <a:t>,    1stFlrSF,   </a:t>
            </a:r>
            <a:r>
              <a:rPr lang="en-US" dirty="0" err="1"/>
              <a:t>LowQualFinSF</a:t>
            </a:r>
            <a:r>
              <a:rPr lang="en-US" dirty="0"/>
              <a:t>,   </a:t>
            </a:r>
            <a:r>
              <a:rPr lang="en-US" dirty="0" err="1"/>
              <a:t>GrLivArea</a:t>
            </a:r>
            <a:r>
              <a:rPr lang="en-US" dirty="0"/>
              <a:t>,  </a:t>
            </a:r>
            <a:r>
              <a:rPr lang="en-US" dirty="0" err="1"/>
              <a:t>BsmtHalfBath</a:t>
            </a:r>
            <a:r>
              <a:rPr lang="en-US" dirty="0"/>
              <a:t>,   </a:t>
            </a:r>
            <a:r>
              <a:rPr lang="en-US" dirty="0" err="1"/>
              <a:t>KitchenAbvGr</a:t>
            </a:r>
            <a:r>
              <a:rPr lang="en-US" dirty="0"/>
              <a:t>,       </a:t>
            </a:r>
            <a:r>
              <a:rPr lang="en-US" dirty="0" err="1"/>
              <a:t>WoodDeckSF</a:t>
            </a:r>
            <a:r>
              <a:rPr lang="en-US" dirty="0"/>
              <a:t>, </a:t>
            </a:r>
            <a:r>
              <a:rPr lang="en-US" dirty="0" err="1"/>
              <a:t>OpenPorchSF</a:t>
            </a:r>
            <a:r>
              <a:rPr lang="en-US" dirty="0"/>
              <a:t>,    </a:t>
            </a:r>
            <a:r>
              <a:rPr lang="en-US" dirty="0" err="1"/>
              <a:t>EnclosedPorch</a:t>
            </a:r>
            <a:r>
              <a:rPr lang="en-US" dirty="0"/>
              <a:t>,  3SsnPorch,  </a:t>
            </a:r>
            <a:r>
              <a:rPr lang="en-US" dirty="0" err="1"/>
              <a:t>ScreenPorch</a:t>
            </a:r>
            <a:r>
              <a:rPr lang="en-US" dirty="0"/>
              <a:t>,    </a:t>
            </a:r>
            <a:r>
              <a:rPr lang="en-US" dirty="0" err="1"/>
              <a:t>PoolArea</a:t>
            </a:r>
            <a:r>
              <a:rPr lang="en-US" dirty="0"/>
              <a:t>,   </a:t>
            </a:r>
            <a:r>
              <a:rPr lang="en-US" dirty="0" err="1"/>
              <a:t>MiscVal</a:t>
            </a:r>
            <a:r>
              <a:rPr lang="en-US" dirty="0"/>
              <a:t>,    </a:t>
            </a:r>
            <a:r>
              <a:rPr lang="en-US" dirty="0" err="1"/>
              <a:t>SalePrice</a:t>
            </a:r>
            <a:r>
              <a:rPr lang="en-US" dirty="0"/>
              <a:t>. These needs to be treated to achieve linear model.</a:t>
            </a:r>
          </a:p>
          <a:p>
            <a:pPr>
              <a:spcBef>
                <a:spcPts val="0"/>
              </a:spcBef>
            </a:pPr>
            <a:r>
              <a:rPr lang="en-US" dirty="0"/>
              <a:t>Housing prices are primarily driven by living area, quality, and zoning/subclass effects</a:t>
            </a:r>
          </a:p>
          <a:p>
            <a:pPr>
              <a:spcBef>
                <a:spcPts val="0"/>
              </a:spcBef>
            </a:pPr>
            <a:r>
              <a:rPr lang="en-US" dirty="0"/>
              <a:t>Most outliers occur in size and amenity-based features such as lot size, basement areas, porches, pools, misc. values</a:t>
            </a:r>
          </a:p>
          <a:p>
            <a:pPr>
              <a:spcBef>
                <a:spcPts val="0"/>
              </a:spcBef>
            </a:pPr>
            <a:r>
              <a:rPr lang="en-US" dirty="0"/>
              <a:t>These represent meaningful market behavior rather than data errors so handled through transformation rather than removal.</a:t>
            </a:r>
          </a:p>
          <a:p>
            <a:pPr marL="0" indent="0">
              <a:spcBef>
                <a:spcPts val="0"/>
              </a:spcBef>
              <a:buNone/>
            </a:pPr>
            <a:endParaRPr lang="en-US" dirty="0"/>
          </a:p>
          <a:p>
            <a:pPr marL="0" indent="0">
              <a:spcBef>
                <a:spcPts val="0"/>
              </a:spcBef>
              <a:buNone/>
            </a:pPr>
            <a:r>
              <a:rPr lang="en-US" sz="1900" b="1" dirty="0"/>
              <a:t>       For non-Numerical/ Object columns-</a:t>
            </a:r>
          </a:p>
          <a:p>
            <a:pPr>
              <a:spcBef>
                <a:spcPts val="0"/>
              </a:spcBef>
            </a:pPr>
            <a:r>
              <a:rPr lang="en-US" dirty="0"/>
              <a:t>Majority of columns are imbalanced due to dominant majority of category falling under the columns.</a:t>
            </a:r>
          </a:p>
          <a:p>
            <a:pPr>
              <a:spcBef>
                <a:spcPts val="0"/>
              </a:spcBef>
            </a:pPr>
            <a:r>
              <a:rPr lang="en-US" dirty="0"/>
              <a:t>e.g. </a:t>
            </a:r>
            <a:r>
              <a:rPr lang="en-US" dirty="0" err="1"/>
              <a:t>MSZoning</a:t>
            </a:r>
            <a:r>
              <a:rPr lang="en-US" dirty="0"/>
              <a:t> with a dominant majority Residential Low Density (RL) zoning. It implies-</a:t>
            </a:r>
          </a:p>
          <a:p>
            <a:pPr>
              <a:spcBef>
                <a:spcPts val="0"/>
              </a:spcBef>
            </a:pPr>
            <a:r>
              <a:rPr lang="en-US" dirty="0"/>
              <a:t>Homes in RL zones likely command higher and more stable prices due to larger lot sizes and lower density, while RM, RH, and C zones may exhibit different pricing dynamics driven by density and mixed-use constraints.</a:t>
            </a:r>
          </a:p>
          <a:p>
            <a:pPr>
              <a:spcBef>
                <a:spcPts val="0"/>
              </a:spcBef>
            </a:pPr>
            <a:r>
              <a:rPr lang="en-US" dirty="0" err="1"/>
              <a:t>LotShape</a:t>
            </a:r>
            <a:r>
              <a:rPr lang="en-US" dirty="0"/>
              <a:t> provides meaningful geometric information about the property. While regular lots dominate the dataset, varying degrees of irregularity can influence price and should be retained as an ordered categorical feature, with careful handling of rare extreme categories.</a:t>
            </a:r>
          </a:p>
          <a:p>
            <a:pPr>
              <a:spcBef>
                <a:spcPts val="0"/>
              </a:spcBef>
            </a:pPr>
            <a:r>
              <a:rPr lang="en-US" dirty="0"/>
              <a:t>The dataset is dominated by a few residential neighborhoods, while many areas are sparsely represented, requiring careful encoding and potential grouping for robust modeling.</a:t>
            </a:r>
          </a:p>
          <a:p>
            <a:pPr marL="0" indent="0">
              <a:spcBef>
                <a:spcPts val="0"/>
              </a:spcBef>
              <a:buNone/>
            </a:pPr>
            <a:endParaRPr lang="en-US" sz="1400" dirty="0"/>
          </a:p>
          <a:p>
            <a:pPr marL="0" indent="0">
              <a:spcBef>
                <a:spcPts val="0"/>
              </a:spcBef>
              <a:buNone/>
            </a:pPr>
            <a:endParaRPr lang="en-US" sz="1400" dirty="0"/>
          </a:p>
          <a:p>
            <a:pPr marL="0" indent="0">
              <a:spcBef>
                <a:spcPts val="0"/>
              </a:spcBef>
              <a:buNone/>
            </a:pPr>
            <a:endParaRPr lang="en-IN" dirty="0"/>
          </a:p>
          <a:p>
            <a:pPr marL="0" indent="0">
              <a:spcBef>
                <a:spcPts val="2500"/>
              </a:spcBef>
              <a:buFont typeface="Arial" panose="020B0604020202020204" pitchFamily="34" charset="0"/>
              <a:buNone/>
            </a:pPr>
            <a:endParaRPr lang="en-US" sz="1400" dirty="0"/>
          </a:p>
        </p:txBody>
      </p:sp>
      <p:pic>
        <p:nvPicPr>
          <p:cNvPr id="5" name="Content Placeholder 4" descr="Colorful density plots and time series graphs showing data distribution and trends in pricing and sizes">
            <a:extLst>
              <a:ext uri="{FF2B5EF4-FFF2-40B4-BE49-F238E27FC236}">
                <a16:creationId xmlns:a16="http://schemas.microsoft.com/office/drawing/2014/main" id="{BE01AC87-6889-4789-945A-B9CAA8CE1CDC}"/>
              </a:ext>
            </a:extLst>
          </p:cNvPr>
          <p:cNvPicPr>
            <a:picLocks noGrp="1" noChangeAspect="1"/>
          </p:cNvPicPr>
          <p:nvPr>
            <p:ph type="pic" sz="quarter" idx="13"/>
          </p:nvPr>
        </p:nvPicPr>
        <p:blipFill>
          <a:blip r:embed="rId3"/>
          <a:srcRect l="31422" r="24124" b="-1"/>
          <a:stretch>
            <a:fillRect/>
          </a:stretch>
        </p:blipFill>
        <p:spPr>
          <a:xfrm>
            <a:off x="7624831" y="10"/>
            <a:ext cx="4567169" cy="6857990"/>
          </a:xfrm>
          <a:solidFill>
            <a:srgbClr val="F3EBE8"/>
          </a:solidFill>
        </p:spPr>
      </p:pic>
    </p:spTree>
    <p:extLst>
      <p:ext uri="{BB962C8B-B14F-4D97-AF65-F5344CB8AC3E}">
        <p14:creationId xmlns:p14="http://schemas.microsoft.com/office/powerpoint/2010/main" val="8784220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20572-0088-9804-F137-12E413716E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E0E90E-DBD5-D506-C0EC-4EB8D977403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27260" y="240632"/>
            <a:ext cx="6977666" cy="5564267"/>
          </a:xfrm>
        </p:spPr>
        <p:txBody>
          <a:bodyPr>
            <a:normAutofit/>
          </a:bodyPr>
          <a:lstStyle/>
          <a:p>
            <a:pPr marL="0" indent="0">
              <a:spcBef>
                <a:spcPts val="0"/>
              </a:spcBef>
              <a:buNone/>
            </a:pPr>
            <a:r>
              <a:rPr lang="en-US" sz="1400" b="1" dirty="0"/>
              <a:t>Sample Representation:</a:t>
            </a:r>
          </a:p>
          <a:p>
            <a:pPr marL="0" indent="0">
              <a:spcBef>
                <a:spcPts val="0"/>
              </a:spcBef>
              <a:buNone/>
            </a:pPr>
            <a:r>
              <a:rPr lang="en-US" sz="1400" dirty="0"/>
              <a:t>Categorical Data:</a:t>
            </a:r>
          </a:p>
          <a:p>
            <a:pPr marL="0" indent="0">
              <a:spcBef>
                <a:spcPts val="0"/>
              </a:spcBef>
              <a:buNone/>
            </a:pPr>
            <a:endParaRPr lang="en-US" sz="1400" b="1" dirty="0"/>
          </a:p>
          <a:p>
            <a:pPr marL="0" indent="0">
              <a:spcBef>
                <a:spcPts val="0"/>
              </a:spcBef>
              <a:buNone/>
            </a:pPr>
            <a:endParaRPr lang="en-US" sz="1400" dirty="0"/>
          </a:p>
          <a:p>
            <a:pPr marL="0" indent="0">
              <a:spcBef>
                <a:spcPts val="0"/>
              </a:spcBef>
              <a:buNone/>
            </a:pPr>
            <a:endParaRPr lang="en-US" sz="1400" dirty="0"/>
          </a:p>
          <a:p>
            <a:pPr marL="0" indent="0">
              <a:spcBef>
                <a:spcPts val="0"/>
              </a:spcBef>
              <a:buNone/>
            </a:pPr>
            <a:endParaRPr lang="en-IN" dirty="0"/>
          </a:p>
          <a:p>
            <a:pPr marL="0" indent="0">
              <a:spcBef>
                <a:spcPts val="2500"/>
              </a:spcBef>
              <a:buFont typeface="Arial" panose="020B0604020202020204" pitchFamily="34" charset="0"/>
              <a:buNone/>
            </a:pPr>
            <a:endParaRPr lang="en-US" sz="1400" dirty="0"/>
          </a:p>
          <a:p>
            <a:pPr marL="0" indent="0">
              <a:spcBef>
                <a:spcPts val="600"/>
              </a:spcBef>
              <a:buFont typeface="Arial" panose="020B0604020202020204" pitchFamily="34" charset="0"/>
              <a:buNone/>
            </a:pPr>
            <a:endParaRPr lang="en-US" sz="1400" dirty="0"/>
          </a:p>
          <a:p>
            <a:pPr marL="0" indent="0">
              <a:spcBef>
                <a:spcPts val="600"/>
              </a:spcBef>
              <a:buFont typeface="Arial" panose="020B0604020202020204" pitchFamily="34" charset="0"/>
              <a:buNone/>
            </a:pPr>
            <a:r>
              <a:rPr lang="en-US" sz="1400" dirty="0"/>
              <a:t>Numerical Data:</a:t>
            </a:r>
          </a:p>
          <a:p>
            <a:pPr marL="0" indent="0">
              <a:spcBef>
                <a:spcPts val="2500"/>
              </a:spcBef>
              <a:buFont typeface="Arial" panose="020B0604020202020204" pitchFamily="34" charset="0"/>
              <a:buNone/>
            </a:pPr>
            <a:endParaRPr lang="en-US" sz="1400" dirty="0"/>
          </a:p>
        </p:txBody>
      </p:sp>
      <p:pic>
        <p:nvPicPr>
          <p:cNvPr id="5" name="Content Placeholder 4" descr="Colorful density plots and time series graphs showing data distribution and trends in pricing and sizes">
            <a:extLst>
              <a:ext uri="{FF2B5EF4-FFF2-40B4-BE49-F238E27FC236}">
                <a16:creationId xmlns:a16="http://schemas.microsoft.com/office/drawing/2014/main" id="{9A25092E-C4AA-9762-1CFA-48E249BB3862}"/>
              </a:ext>
            </a:extLst>
          </p:cNvPr>
          <p:cNvPicPr>
            <a:picLocks noGrp="1" noChangeAspect="1"/>
          </p:cNvPicPr>
          <p:nvPr>
            <p:ph type="pic" sz="quarter" idx="13"/>
          </p:nvPr>
        </p:nvPicPr>
        <p:blipFill>
          <a:blip r:embed="rId3"/>
          <a:srcRect l="31422" r="24124" b="-1"/>
          <a:stretch>
            <a:fillRect/>
          </a:stretch>
        </p:blipFill>
        <p:spPr>
          <a:xfrm>
            <a:off x="7624831" y="10"/>
            <a:ext cx="4567169" cy="6857990"/>
          </a:xfrm>
          <a:solidFill>
            <a:srgbClr val="F3EBE8"/>
          </a:solidFill>
        </p:spPr>
      </p:pic>
      <p:pic>
        <p:nvPicPr>
          <p:cNvPr id="4" name="Picture 3">
            <a:extLst>
              <a:ext uri="{FF2B5EF4-FFF2-40B4-BE49-F238E27FC236}">
                <a16:creationId xmlns:a16="http://schemas.microsoft.com/office/drawing/2014/main" id="{BA061D0A-1725-DC02-39EF-19B1A02EA469}"/>
              </a:ext>
            </a:extLst>
          </p:cNvPr>
          <p:cNvPicPr>
            <a:picLocks noChangeAspect="1"/>
          </p:cNvPicPr>
          <p:nvPr/>
        </p:nvPicPr>
        <p:blipFill>
          <a:blip r:embed="rId4"/>
          <a:stretch>
            <a:fillRect/>
          </a:stretch>
        </p:blipFill>
        <p:spPr>
          <a:xfrm>
            <a:off x="271076" y="991377"/>
            <a:ext cx="7227004" cy="1934703"/>
          </a:xfrm>
          <a:prstGeom prst="rect">
            <a:avLst/>
          </a:prstGeom>
        </p:spPr>
      </p:pic>
      <p:pic>
        <p:nvPicPr>
          <p:cNvPr id="7" name="Picture 6">
            <a:extLst>
              <a:ext uri="{FF2B5EF4-FFF2-40B4-BE49-F238E27FC236}">
                <a16:creationId xmlns:a16="http://schemas.microsoft.com/office/drawing/2014/main" id="{CACEE16C-0076-7B29-6E48-4A24254C73F4}"/>
              </a:ext>
            </a:extLst>
          </p:cNvPr>
          <p:cNvPicPr>
            <a:picLocks noChangeAspect="1"/>
          </p:cNvPicPr>
          <p:nvPr/>
        </p:nvPicPr>
        <p:blipFill>
          <a:blip r:embed="rId5"/>
          <a:stretch>
            <a:fillRect/>
          </a:stretch>
        </p:blipFill>
        <p:spPr>
          <a:xfrm>
            <a:off x="271075" y="3195588"/>
            <a:ext cx="7227003" cy="3580598"/>
          </a:xfrm>
          <a:prstGeom prst="rect">
            <a:avLst/>
          </a:prstGeom>
        </p:spPr>
      </p:pic>
    </p:spTree>
    <p:extLst>
      <p:ext uri="{BB962C8B-B14F-4D97-AF65-F5344CB8AC3E}">
        <p14:creationId xmlns:p14="http://schemas.microsoft.com/office/powerpoint/2010/main" val="4759925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AFA53-6907-B9BE-F687-B429BB5BABF1}"/>
              </a:ext>
            </a:extLst>
          </p:cNvPr>
          <p:cNvSpPr>
            <a:spLocks noGrp="1"/>
          </p:cNvSpPr>
          <p:nvPr>
            <p:ph type="title"/>
          </p:nvPr>
        </p:nvSpPr>
        <p:spPr>
          <a:xfrm>
            <a:off x="612649" y="538716"/>
            <a:ext cx="4494189" cy="591441"/>
          </a:xfrm>
        </p:spPr>
        <p:txBody>
          <a:bodyPr anchor="b">
            <a:normAutofit fontScale="90000"/>
          </a:bodyPr>
          <a:lstStyle/>
          <a:p>
            <a:r>
              <a:rPr lang="en-IN" sz="2600" dirty="0"/>
              <a:t>Bivariate Analysis </a:t>
            </a:r>
            <a:br>
              <a:rPr lang="en-IN" sz="2400" dirty="0"/>
            </a:br>
            <a:r>
              <a:rPr lang="en-IN" sz="1600" dirty="0"/>
              <a:t>(Against Target Column “</a:t>
            </a:r>
            <a:r>
              <a:rPr lang="en-IN" sz="1600" dirty="0" err="1"/>
              <a:t>SalesPrice</a:t>
            </a:r>
            <a:r>
              <a:rPr lang="en-IN" sz="1600" dirty="0"/>
              <a:t>“)</a:t>
            </a:r>
          </a:p>
        </p:txBody>
      </p:sp>
      <p:sp>
        <p:nvSpPr>
          <p:cNvPr id="3" name="Content Placeholder 2">
            <a:extLst>
              <a:ext uri="{FF2B5EF4-FFF2-40B4-BE49-F238E27FC236}">
                <a16:creationId xmlns:a16="http://schemas.microsoft.com/office/drawing/2014/main" id="{39E47149-F5EB-C292-D6F0-DF5C1D44DF5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9" y="2280863"/>
            <a:ext cx="4422145" cy="3664622"/>
          </a:xfrm>
        </p:spPr>
        <p:txBody>
          <a:bodyPr>
            <a:normAutofit fontScale="70000" lnSpcReduction="20000"/>
          </a:bodyPr>
          <a:lstStyle/>
          <a:p>
            <a:pPr marL="0" indent="0">
              <a:buNone/>
            </a:pPr>
            <a:r>
              <a:rPr lang="en-US" sz="2200" b="1" dirty="0"/>
              <a:t>Overall Summary: (On Few of the Impacting columns)</a:t>
            </a:r>
          </a:p>
          <a:p>
            <a:r>
              <a:rPr lang="en-US" sz="1700" dirty="0"/>
              <a:t>Sale prices vary significantly across zoning categories, with FV and RL showing the highest median prices, while commercial zoning exhibits consistently lower values, indicating that </a:t>
            </a:r>
            <a:r>
              <a:rPr lang="en-US" sz="1700" dirty="0" err="1"/>
              <a:t>MSZoning</a:t>
            </a:r>
            <a:r>
              <a:rPr lang="en-US" sz="1700" dirty="0"/>
              <a:t> is a strong categorical predictor of housing prices.</a:t>
            </a:r>
          </a:p>
          <a:p>
            <a:r>
              <a:rPr lang="en-US" sz="1700" dirty="0"/>
              <a:t>Sale prices differ significantly across </a:t>
            </a:r>
            <a:r>
              <a:rPr lang="en-US" sz="1700" dirty="0" err="1"/>
              <a:t>MSSubClass</a:t>
            </a:r>
            <a:r>
              <a:rPr lang="en-US" sz="1700" dirty="0"/>
              <a:t> categories, with newer and multi-story dwelling types commanding higher prices, while older or conversion-style homes consistently sell for less.</a:t>
            </a:r>
          </a:p>
          <a:p>
            <a:r>
              <a:rPr lang="en-US" sz="1700" dirty="0" err="1"/>
              <a:t>SalePrice</a:t>
            </a:r>
            <a:r>
              <a:rPr lang="en-US" sz="1700" dirty="0"/>
              <a:t> increases with </a:t>
            </a:r>
            <a:r>
              <a:rPr lang="en-US" sz="1700" dirty="0" err="1"/>
              <a:t>YearBuilt</a:t>
            </a:r>
            <a:r>
              <a:rPr lang="en-US" sz="1700" dirty="0"/>
              <a:t> showing a moderate positive correlation, but the wide dispersion indicates that these alone are insufficient to explain price without considering quality and other features.</a:t>
            </a:r>
          </a:p>
          <a:p>
            <a:r>
              <a:rPr lang="en-US" sz="1700" dirty="0" err="1"/>
              <a:t>OverallQual,Living</a:t>
            </a:r>
            <a:r>
              <a:rPr lang="en-US" sz="1700" dirty="0"/>
              <a:t> </a:t>
            </a:r>
            <a:r>
              <a:rPr lang="en-US" sz="1700" dirty="0" err="1"/>
              <a:t>area,GarageArea,GarageCars</a:t>
            </a:r>
            <a:r>
              <a:rPr lang="en-US" sz="1700" dirty="0"/>
              <a:t> show a strong linear relationship with sale price, explaining a substantial portion of price variability. However, increasing variance at higher areas suggests the influence of additional quality and location factors</a:t>
            </a:r>
            <a:r>
              <a:rPr lang="en-US" dirty="0"/>
              <a:t>.</a:t>
            </a:r>
          </a:p>
        </p:txBody>
      </p:sp>
      <p:pic>
        <p:nvPicPr>
          <p:cNvPr id="5" name="Content Placeholder 4" descr="Collage of property listings, satellite images, census data charts, and social media icons representing diverse property data sources">
            <a:extLst>
              <a:ext uri="{FF2B5EF4-FFF2-40B4-BE49-F238E27FC236}">
                <a16:creationId xmlns:a16="http://schemas.microsoft.com/office/drawing/2014/main" id="{197FFA0F-04D2-41DD-B5EE-BB2F1F7C2BB3}"/>
              </a:ext>
            </a:extLst>
          </p:cNvPr>
          <p:cNvPicPr>
            <a:picLocks noGrp="1" noChangeAspect="1"/>
          </p:cNvPicPr>
          <p:nvPr>
            <p:ph type="pic" sz="quarter" idx="13"/>
          </p:nvPr>
        </p:nvPicPr>
        <p:blipFill>
          <a:blip r:embed="rId3"/>
          <a:srcRect l="16947" r="19465" b="-1"/>
          <a:stretch>
            <a:fillRect/>
          </a:stretch>
        </p:blipFill>
        <p:spPr>
          <a:xfrm>
            <a:off x="5658928" y="10"/>
            <a:ext cx="6533072" cy="6857990"/>
          </a:xfrm>
          <a:solidFill>
            <a:srgbClr val="F3EBE8"/>
          </a:solidFill>
        </p:spPr>
      </p:pic>
      <p:sp>
        <p:nvSpPr>
          <p:cNvPr id="7" name="TextBox 6">
            <a:extLst>
              <a:ext uri="{FF2B5EF4-FFF2-40B4-BE49-F238E27FC236}">
                <a16:creationId xmlns:a16="http://schemas.microsoft.com/office/drawing/2014/main" id="{6711B1C6-34B0-A748-ABAF-4374A4EBF073}"/>
              </a:ext>
            </a:extLst>
          </p:cNvPr>
          <p:cNvSpPr txBox="1"/>
          <p:nvPr/>
        </p:nvSpPr>
        <p:spPr>
          <a:xfrm>
            <a:off x="612649" y="1300174"/>
            <a:ext cx="4832654" cy="677108"/>
          </a:xfrm>
          <a:prstGeom prst="rect">
            <a:avLst/>
          </a:prstGeom>
          <a:noFill/>
        </p:spPr>
        <p:txBody>
          <a:bodyPr wrap="square">
            <a:spAutoFit/>
          </a:bodyPr>
          <a:lstStyle/>
          <a:p>
            <a:pPr marL="0" indent="0">
              <a:spcBef>
                <a:spcPts val="0"/>
              </a:spcBef>
              <a:buNone/>
            </a:pPr>
            <a:r>
              <a:rPr lang="en-IN" sz="1400" b="1" dirty="0"/>
              <a:t>Visualization Pattern:</a:t>
            </a:r>
          </a:p>
          <a:p>
            <a:pPr>
              <a:spcBef>
                <a:spcPts val="0"/>
              </a:spcBef>
            </a:pPr>
            <a:r>
              <a:rPr lang="en-IN" sz="1200" dirty="0"/>
              <a:t>Numerical Columns: </a:t>
            </a:r>
            <a:r>
              <a:rPr lang="en-US" sz="1200" dirty="0"/>
              <a:t>Scatter Plot with regression line</a:t>
            </a:r>
          </a:p>
          <a:p>
            <a:pPr>
              <a:spcBef>
                <a:spcPts val="0"/>
              </a:spcBef>
            </a:pPr>
            <a:r>
              <a:rPr lang="en-US" sz="1200" dirty="0"/>
              <a:t>Categorical Columns: Box Plot</a:t>
            </a:r>
          </a:p>
        </p:txBody>
      </p:sp>
    </p:spTree>
    <p:extLst>
      <p:ext uri="{BB962C8B-B14F-4D97-AF65-F5344CB8AC3E}">
        <p14:creationId xmlns:p14="http://schemas.microsoft.com/office/powerpoint/2010/main" val="1126785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0946CF1-5CFD-27C7-95FD-970BBBC69EB8}"/>
              </a:ext>
            </a:extLst>
          </p:cNvPr>
          <p:cNvSpPr txBox="1"/>
          <p:nvPr/>
        </p:nvSpPr>
        <p:spPr>
          <a:xfrm>
            <a:off x="327259" y="221381"/>
            <a:ext cx="11646568" cy="646331"/>
          </a:xfrm>
          <a:prstGeom prst="rect">
            <a:avLst/>
          </a:prstGeom>
          <a:noFill/>
        </p:spPr>
        <p:txBody>
          <a:bodyPr wrap="square">
            <a:spAutoFit/>
          </a:bodyPr>
          <a:lstStyle/>
          <a:p>
            <a:pPr marL="0" indent="0">
              <a:spcBef>
                <a:spcPts val="0"/>
              </a:spcBef>
              <a:buNone/>
            </a:pPr>
            <a:r>
              <a:rPr lang="en-US" sz="1800" b="1" dirty="0"/>
              <a:t>Sample Representation:</a:t>
            </a:r>
          </a:p>
          <a:p>
            <a:pPr marL="0" indent="0">
              <a:spcBef>
                <a:spcPts val="0"/>
              </a:spcBef>
              <a:buNone/>
            </a:pPr>
            <a:r>
              <a:rPr lang="en-US" sz="1800" dirty="0"/>
              <a:t>Categorical Data:</a:t>
            </a:r>
          </a:p>
        </p:txBody>
      </p:sp>
      <p:sp>
        <p:nvSpPr>
          <p:cNvPr id="6" name="TextBox 5">
            <a:extLst>
              <a:ext uri="{FF2B5EF4-FFF2-40B4-BE49-F238E27FC236}">
                <a16:creationId xmlns:a16="http://schemas.microsoft.com/office/drawing/2014/main" id="{CC3AC2D7-9FE0-D5D0-7CE0-1012C0C4F44C}"/>
              </a:ext>
            </a:extLst>
          </p:cNvPr>
          <p:cNvSpPr txBox="1"/>
          <p:nvPr/>
        </p:nvSpPr>
        <p:spPr>
          <a:xfrm>
            <a:off x="327259" y="2972602"/>
            <a:ext cx="11646568" cy="369332"/>
          </a:xfrm>
          <a:prstGeom prst="rect">
            <a:avLst/>
          </a:prstGeom>
          <a:noFill/>
        </p:spPr>
        <p:txBody>
          <a:bodyPr wrap="square">
            <a:spAutoFit/>
          </a:bodyPr>
          <a:lstStyle/>
          <a:p>
            <a:pPr marL="0" indent="0">
              <a:spcBef>
                <a:spcPts val="0"/>
              </a:spcBef>
              <a:buNone/>
            </a:pPr>
            <a:r>
              <a:rPr lang="en-US" sz="1800" dirty="0"/>
              <a:t>Numerical Data:</a:t>
            </a:r>
          </a:p>
        </p:txBody>
      </p:sp>
      <p:pic>
        <p:nvPicPr>
          <p:cNvPr id="15" name="Picture 14">
            <a:extLst>
              <a:ext uri="{FF2B5EF4-FFF2-40B4-BE49-F238E27FC236}">
                <a16:creationId xmlns:a16="http://schemas.microsoft.com/office/drawing/2014/main" id="{031B7029-C5C9-3EE1-29D1-4D613390A3E4}"/>
              </a:ext>
            </a:extLst>
          </p:cNvPr>
          <p:cNvPicPr>
            <a:picLocks noChangeAspect="1"/>
          </p:cNvPicPr>
          <p:nvPr/>
        </p:nvPicPr>
        <p:blipFill>
          <a:blip r:embed="rId2"/>
          <a:stretch>
            <a:fillRect/>
          </a:stretch>
        </p:blipFill>
        <p:spPr>
          <a:xfrm>
            <a:off x="327259" y="3429000"/>
            <a:ext cx="11405936" cy="3149867"/>
          </a:xfrm>
          <a:prstGeom prst="rect">
            <a:avLst/>
          </a:prstGeom>
        </p:spPr>
      </p:pic>
      <p:pic>
        <p:nvPicPr>
          <p:cNvPr id="13" name="Picture 12">
            <a:extLst>
              <a:ext uri="{FF2B5EF4-FFF2-40B4-BE49-F238E27FC236}">
                <a16:creationId xmlns:a16="http://schemas.microsoft.com/office/drawing/2014/main" id="{96C812AC-D5C8-696A-4694-A3E2E47E20F5}"/>
              </a:ext>
            </a:extLst>
          </p:cNvPr>
          <p:cNvPicPr>
            <a:picLocks noChangeAspect="1"/>
          </p:cNvPicPr>
          <p:nvPr/>
        </p:nvPicPr>
        <p:blipFill>
          <a:blip r:embed="rId3"/>
          <a:stretch>
            <a:fillRect/>
          </a:stretch>
        </p:blipFill>
        <p:spPr>
          <a:xfrm>
            <a:off x="327259" y="867712"/>
            <a:ext cx="11405936" cy="2184934"/>
          </a:xfrm>
          <a:prstGeom prst="rect">
            <a:avLst/>
          </a:prstGeom>
        </p:spPr>
      </p:pic>
    </p:spTree>
    <p:extLst>
      <p:ext uri="{BB962C8B-B14F-4D97-AF65-F5344CB8AC3E}">
        <p14:creationId xmlns:p14="http://schemas.microsoft.com/office/powerpoint/2010/main" val="16267248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59C76-3401-1446-1902-57B2316D5EA1}"/>
              </a:ext>
            </a:extLst>
          </p:cNvPr>
          <p:cNvSpPr>
            <a:spLocks noGrp="1"/>
          </p:cNvSpPr>
          <p:nvPr>
            <p:ph type="title"/>
          </p:nvPr>
        </p:nvSpPr>
        <p:spPr>
          <a:xfrm>
            <a:off x="482885" y="309777"/>
            <a:ext cx="4962418" cy="540071"/>
          </a:xfrm>
        </p:spPr>
        <p:txBody>
          <a:bodyPr anchor="b">
            <a:normAutofit/>
          </a:bodyPr>
          <a:lstStyle/>
          <a:p>
            <a:r>
              <a:rPr lang="en-IN" sz="2300" dirty="0"/>
              <a:t>BIVARIATE ANALYSIS - JOINT PLOT</a:t>
            </a:r>
          </a:p>
        </p:txBody>
      </p:sp>
      <p:sp>
        <p:nvSpPr>
          <p:cNvPr id="3" name="Content Placeholder 2">
            <a:extLst>
              <a:ext uri="{FF2B5EF4-FFF2-40B4-BE49-F238E27FC236}">
                <a16:creationId xmlns:a16="http://schemas.microsoft.com/office/drawing/2014/main" id="{F3CDD170-4FF6-5712-ABFF-7366E4AC552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2885" y="924674"/>
            <a:ext cx="4962418" cy="1664413"/>
          </a:xfrm>
        </p:spPr>
        <p:txBody>
          <a:bodyPr>
            <a:normAutofit/>
          </a:bodyPr>
          <a:lstStyle/>
          <a:p>
            <a:pPr marL="0" indent="0">
              <a:spcBef>
                <a:spcPts val="2500"/>
              </a:spcBef>
              <a:buFont typeface="Arial" panose="020B0604020202020204" pitchFamily="34" charset="0"/>
              <a:buNone/>
            </a:pPr>
            <a:r>
              <a:rPr lang="en-US" sz="1200" b="1" dirty="0"/>
              <a:t>Combined Visualizations</a:t>
            </a:r>
          </a:p>
          <a:p>
            <a:pPr marL="0" lvl="1" indent="0">
              <a:buFont typeface="Arial" panose="020B0604020202020204" pitchFamily="34" charset="0"/>
              <a:buNone/>
            </a:pPr>
            <a:r>
              <a:rPr lang="en-US" sz="1200" dirty="0"/>
              <a:t>Joint plots integrate scatterplots and histograms, allowing simultaneous exploration of correlation and distribution.</a:t>
            </a:r>
          </a:p>
          <a:p>
            <a:pPr marL="0" lvl="1" indent="0">
              <a:buFont typeface="Arial" panose="020B0604020202020204" pitchFamily="34" charset="0"/>
              <a:buNone/>
            </a:pPr>
            <a:r>
              <a:rPr lang="en-US" sz="1200" b="1" dirty="0"/>
              <a:t>Pattern and Outlier Detection</a:t>
            </a:r>
          </a:p>
          <a:p>
            <a:pPr marL="0" lvl="1" indent="0">
              <a:buFont typeface="Arial" panose="020B0604020202020204" pitchFamily="34" charset="0"/>
              <a:buNone/>
            </a:pPr>
            <a:r>
              <a:rPr lang="en-US" sz="1200" dirty="0"/>
              <a:t>These plots help identify trends, patterns, and outliers, supporting effective data exploration and statistical analysis.</a:t>
            </a:r>
          </a:p>
        </p:txBody>
      </p:sp>
      <p:pic>
        <p:nvPicPr>
          <p:cNvPr id="5" name="Content Placeholder 4" descr="Assortment of colourful pins.">
            <a:extLst>
              <a:ext uri="{FF2B5EF4-FFF2-40B4-BE49-F238E27FC236}">
                <a16:creationId xmlns:a16="http://schemas.microsoft.com/office/drawing/2014/main" id="{C4DB6269-DED5-494D-8CA3-3E24DC0068D0}"/>
              </a:ext>
            </a:extLst>
          </p:cNvPr>
          <p:cNvPicPr>
            <a:picLocks noGrp="1" noChangeAspect="1"/>
          </p:cNvPicPr>
          <p:nvPr>
            <p:ph type="pic" sz="quarter" idx="13"/>
          </p:nvPr>
        </p:nvPicPr>
        <p:blipFill>
          <a:blip r:embed="rId3"/>
          <a:srcRect l="20001" r="16410" b="-1"/>
          <a:stretch>
            <a:fillRect/>
          </a:stretch>
        </p:blipFill>
        <p:spPr>
          <a:xfrm>
            <a:off x="5658928" y="10"/>
            <a:ext cx="6533072" cy="6857990"/>
          </a:xfrm>
          <a:solidFill>
            <a:srgbClr val="F3EBE8"/>
          </a:solidFill>
        </p:spPr>
      </p:pic>
      <p:sp>
        <p:nvSpPr>
          <p:cNvPr id="4" name="Content Placeholder 2">
            <a:extLst>
              <a:ext uri="{FF2B5EF4-FFF2-40B4-BE49-F238E27FC236}">
                <a16:creationId xmlns:a16="http://schemas.microsoft.com/office/drawing/2014/main" id="{F2BA4599-BB61-E75F-EDEF-4650E8E15A55}"/>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82885" y="2663913"/>
            <a:ext cx="4962418" cy="3884310"/>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2500"/>
              </a:spcBef>
              <a:buFont typeface="Arial" panose="020B0604020202020204" pitchFamily="34" charset="0"/>
              <a:buNone/>
            </a:pPr>
            <a:r>
              <a:rPr lang="en-US" sz="5600" b="1" dirty="0"/>
              <a:t>Overall Summary:</a:t>
            </a:r>
          </a:p>
          <a:p>
            <a:r>
              <a:rPr lang="en-US" sz="4200" dirty="0"/>
              <a:t>A log transform helps:</a:t>
            </a:r>
          </a:p>
          <a:p>
            <a:pPr marL="228600" lvl="1" indent="0">
              <a:buNone/>
            </a:pPr>
            <a:r>
              <a:rPr lang="en-US" sz="4200" dirty="0"/>
              <a:t>     1. Linearize curved relationships</a:t>
            </a:r>
          </a:p>
          <a:p>
            <a:pPr marL="228600" lvl="1" indent="0">
              <a:buNone/>
            </a:pPr>
            <a:r>
              <a:rPr lang="en-US" sz="4200" dirty="0"/>
              <a:t>    2. Reduce the impact of outliers</a:t>
            </a:r>
          </a:p>
          <a:p>
            <a:pPr marL="228600" lvl="1" indent="0">
              <a:buNone/>
            </a:pPr>
            <a:r>
              <a:rPr lang="en-US" sz="4200" dirty="0"/>
              <a:t>    3.Stabilize variance</a:t>
            </a:r>
          </a:p>
          <a:p>
            <a:pPr>
              <a:spcBef>
                <a:spcPts val="0"/>
              </a:spcBef>
            </a:pPr>
            <a:r>
              <a:rPr lang="en-US" sz="4200" dirty="0"/>
              <a:t>Slope is </a:t>
            </a:r>
            <a:r>
              <a:rPr lang="en-US" sz="4200" dirty="0" err="1"/>
              <a:t>equivalant</a:t>
            </a:r>
            <a:r>
              <a:rPr lang="en-US" sz="4200" dirty="0"/>
              <a:t> to elasticity. It signifies 1% increase in the logged columns → ~&lt;slope&gt;% increase in </a:t>
            </a:r>
            <a:r>
              <a:rPr lang="en-US" sz="4200" dirty="0" err="1"/>
              <a:t>SalePrice</a:t>
            </a:r>
            <a:endParaRPr lang="en-US" sz="4200" dirty="0"/>
          </a:p>
          <a:p>
            <a:pPr>
              <a:spcBef>
                <a:spcPts val="0"/>
              </a:spcBef>
            </a:pPr>
            <a:r>
              <a:rPr lang="en-US" sz="4200" dirty="0"/>
              <a:t>If slope were:</a:t>
            </a:r>
          </a:p>
          <a:p>
            <a:pPr marL="457200" lvl="2" indent="0">
              <a:spcBef>
                <a:spcPts val="0"/>
              </a:spcBef>
              <a:buNone/>
            </a:pPr>
            <a:r>
              <a:rPr lang="en-US" sz="4400" dirty="0"/>
              <a:t>    ≈ 1 → almost proportional pricing (e.g. </a:t>
            </a:r>
            <a:r>
              <a:rPr lang="en-US" sz="4400" dirty="0" err="1"/>
              <a:t>GrLivArea,Garage</a:t>
            </a:r>
            <a:r>
              <a:rPr lang="en-US" sz="4400" dirty="0"/>
              <a:t> Car space. These are strong and consistent predictors of </a:t>
            </a:r>
            <a:r>
              <a:rPr lang="en-US" sz="4400" dirty="0" err="1"/>
              <a:t>SalePrice</a:t>
            </a:r>
            <a:r>
              <a:rPr lang="en-US" sz="4400" dirty="0"/>
              <a:t>)</a:t>
            </a:r>
          </a:p>
          <a:p>
            <a:pPr marL="457200" lvl="2" indent="0">
              <a:spcBef>
                <a:spcPts val="0"/>
              </a:spcBef>
              <a:buNone/>
            </a:pPr>
            <a:r>
              <a:rPr lang="en-US" sz="4400" dirty="0"/>
              <a:t>    &gt; 1 → luxury amplification effect (e.g. Overall Quality has an amplifying effect on sale price. This suggests premium valuation behavior rather than simple proportional pricing.)</a:t>
            </a:r>
          </a:p>
          <a:p>
            <a:pPr marL="457200" lvl="2" indent="0">
              <a:spcBef>
                <a:spcPts val="0"/>
              </a:spcBef>
              <a:buNone/>
            </a:pPr>
            <a:r>
              <a:rPr lang="en-US" sz="4400" dirty="0"/>
              <a:t>    &lt; 0.5 → weak or secondary feature (e.g. Total Basement that rarely influence price)</a:t>
            </a:r>
          </a:p>
          <a:p>
            <a:pPr>
              <a:spcBef>
                <a:spcPts val="0"/>
              </a:spcBef>
            </a:pPr>
            <a:r>
              <a:rPr lang="en-US" sz="4200" dirty="0"/>
              <a:t>The extremely large elasticity/slope of </a:t>
            </a:r>
            <a:r>
              <a:rPr lang="en-US" sz="4200" dirty="0" err="1"/>
              <a:t>YearBuilt</a:t>
            </a:r>
            <a:r>
              <a:rPr lang="en-US" sz="4200" dirty="0"/>
              <a:t> indicates instability caused by feature scaling rather than a genuine economic effect, which implies Year Built is misleading feature for log transformation and can be ignored</a:t>
            </a:r>
          </a:p>
          <a:p>
            <a:pPr>
              <a:spcBef>
                <a:spcPts val="0"/>
              </a:spcBef>
            </a:pPr>
            <a:r>
              <a:rPr lang="en-US" sz="4200" dirty="0"/>
              <a:t>While a linear relationship dominates, the presence of outliers and increasing price variance with size suggests the need for transformation or robust modeling techniques.</a:t>
            </a:r>
          </a:p>
          <a:p>
            <a:pPr marL="0" indent="0">
              <a:spcBef>
                <a:spcPts val="2500"/>
              </a:spcBef>
              <a:buFont typeface="Arial" panose="020B0604020202020204" pitchFamily="34" charset="0"/>
              <a:buNone/>
            </a:pPr>
            <a:endParaRPr lang="en-US" sz="1400" b="1" dirty="0"/>
          </a:p>
        </p:txBody>
      </p:sp>
    </p:spTree>
    <p:extLst>
      <p:ext uri="{BB962C8B-B14F-4D97-AF65-F5344CB8AC3E}">
        <p14:creationId xmlns:p14="http://schemas.microsoft.com/office/powerpoint/2010/main" val="1286849947"/>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5EDD24-2609-BE65-808F-CF9DC148E5B4}"/>
              </a:ext>
            </a:extLst>
          </p:cNvPr>
          <p:cNvSpPr>
            <a:spLocks noGrp="1"/>
          </p:cNvSpPr>
          <p:nvPr>
            <p:ph idx="1"/>
          </p:nvPr>
        </p:nvSpPr>
        <p:spPr>
          <a:xfrm>
            <a:off x="612647" y="481263"/>
            <a:ext cx="10963656" cy="5742351"/>
          </a:xfrm>
        </p:spPr>
        <p:txBody>
          <a:bodyPr/>
          <a:lstStyle/>
          <a:p>
            <a:pPr marL="0" indent="0">
              <a:buNone/>
            </a:pPr>
            <a:r>
              <a:rPr lang="en-IN" dirty="0"/>
              <a:t>Sample Representation</a:t>
            </a:r>
          </a:p>
          <a:p>
            <a:pPr marL="0" indent="0">
              <a:buNone/>
            </a:pPr>
            <a:endParaRPr lang="en-IN" dirty="0"/>
          </a:p>
        </p:txBody>
      </p:sp>
      <p:pic>
        <p:nvPicPr>
          <p:cNvPr id="5" name="Picture 4">
            <a:extLst>
              <a:ext uri="{FF2B5EF4-FFF2-40B4-BE49-F238E27FC236}">
                <a16:creationId xmlns:a16="http://schemas.microsoft.com/office/drawing/2014/main" id="{01E1032A-2B1C-C80C-E9CA-C7FBA992E80A}"/>
              </a:ext>
            </a:extLst>
          </p:cNvPr>
          <p:cNvPicPr>
            <a:picLocks noChangeAspect="1"/>
          </p:cNvPicPr>
          <p:nvPr/>
        </p:nvPicPr>
        <p:blipFill>
          <a:blip r:embed="rId2"/>
          <a:stretch>
            <a:fillRect/>
          </a:stretch>
        </p:blipFill>
        <p:spPr>
          <a:xfrm>
            <a:off x="612647" y="1132998"/>
            <a:ext cx="9291749" cy="5090615"/>
          </a:xfrm>
          <a:prstGeom prst="rect">
            <a:avLst/>
          </a:prstGeom>
        </p:spPr>
      </p:pic>
    </p:spTree>
    <p:extLst>
      <p:ext uri="{BB962C8B-B14F-4D97-AF65-F5344CB8AC3E}">
        <p14:creationId xmlns:p14="http://schemas.microsoft.com/office/powerpoint/2010/main" val="33813083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061FD-FCA6-BEAE-941F-4E8E756A491A}"/>
              </a:ext>
            </a:extLst>
          </p:cNvPr>
          <p:cNvSpPr>
            <a:spLocks noGrp="1"/>
          </p:cNvSpPr>
          <p:nvPr>
            <p:ph type="title"/>
          </p:nvPr>
        </p:nvSpPr>
        <p:spPr>
          <a:xfrm>
            <a:off x="511870" y="288352"/>
            <a:ext cx="4941870" cy="796924"/>
          </a:xfrm>
        </p:spPr>
        <p:txBody>
          <a:bodyPr anchor="b">
            <a:normAutofit/>
          </a:bodyPr>
          <a:lstStyle/>
          <a:p>
            <a:r>
              <a:rPr lang="en-IN" sz="2400" dirty="0"/>
              <a:t>Correlations Between Features and Pricing</a:t>
            </a:r>
          </a:p>
        </p:txBody>
      </p:sp>
      <p:sp>
        <p:nvSpPr>
          <p:cNvPr id="3" name="Content Placeholder 2">
            <a:extLst>
              <a:ext uri="{FF2B5EF4-FFF2-40B4-BE49-F238E27FC236}">
                <a16:creationId xmlns:a16="http://schemas.microsoft.com/office/drawing/2014/main" id="{37737627-5FF9-E05A-C367-8D380B79F67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3360" y="1274124"/>
            <a:ext cx="4822255" cy="3457982"/>
          </a:xfrm>
        </p:spPr>
        <p:txBody>
          <a:bodyPr>
            <a:normAutofit fontScale="70000" lnSpcReduction="20000"/>
          </a:bodyPr>
          <a:lstStyle/>
          <a:p>
            <a:pPr marL="0" indent="0">
              <a:buNone/>
            </a:pPr>
            <a:r>
              <a:rPr lang="en-US" b="1" dirty="0"/>
              <a:t>Correlation Matrix interpretation</a:t>
            </a:r>
          </a:p>
          <a:p>
            <a:r>
              <a:rPr lang="en-US" sz="1700" dirty="0"/>
              <a:t>It ranges from -1 to +1.</a:t>
            </a:r>
          </a:p>
          <a:p>
            <a:r>
              <a:rPr lang="en-US" sz="1700" dirty="0"/>
              <a:t>A value close to +1 indicates a strong positive correlation, meaning as one variable increases, the other tends to increase as well.</a:t>
            </a:r>
          </a:p>
          <a:p>
            <a:r>
              <a:rPr lang="en-US" sz="1700" dirty="0"/>
              <a:t>A value close to -1 indicates a strong negative correlation, meaning as one variable increases, the other tends to decrease.    </a:t>
            </a:r>
          </a:p>
          <a:p>
            <a:r>
              <a:rPr lang="en-US" sz="1700" dirty="0"/>
              <a:t>A value close to 0 indicates little to no linear correlation between the variables</a:t>
            </a:r>
            <a:r>
              <a:rPr lang="en-US" dirty="0"/>
              <a:t>.</a:t>
            </a:r>
          </a:p>
          <a:p>
            <a:pPr marL="0" indent="0">
              <a:buNone/>
            </a:pPr>
            <a:r>
              <a:rPr lang="en-US" sz="1700" b="1" dirty="0"/>
              <a:t>Feature-Price Relationships</a:t>
            </a:r>
          </a:p>
          <a:p>
            <a:pPr marL="0" lvl="1" indent="0">
              <a:buFont typeface="Arial" panose="020B0604020202020204" pitchFamily="34" charset="0"/>
              <a:buNone/>
            </a:pPr>
            <a:r>
              <a:rPr lang="en-US" sz="1700" dirty="0"/>
              <a:t>Correlation matrices reveal strong positive links between price and features like square footage and location desirability.</a:t>
            </a:r>
          </a:p>
          <a:p>
            <a:pPr marL="0" lvl="1" indent="0">
              <a:buFont typeface="Arial" panose="020B0604020202020204" pitchFamily="34" charset="0"/>
              <a:buNone/>
            </a:pPr>
            <a:r>
              <a:rPr lang="en-US" sz="1700" b="1" dirty="0"/>
              <a:t>Weak and Negative Correlations</a:t>
            </a:r>
          </a:p>
          <a:p>
            <a:pPr marL="0" lvl="1" indent="0">
              <a:buFont typeface="Arial" panose="020B0604020202020204" pitchFamily="34" charset="0"/>
              <a:buNone/>
            </a:pPr>
            <a:r>
              <a:rPr lang="en-US" sz="1700" dirty="0"/>
              <a:t>Some features, such as property age, show weak or negative correlations with pricing in various markets.</a:t>
            </a:r>
          </a:p>
        </p:txBody>
      </p:sp>
      <p:pic>
        <p:nvPicPr>
          <p:cNvPr id="5" name="Content Placeholder 4" descr="colorful heatmap and correlation matrix illustrating relationships between real estate features and pricing">
            <a:extLst>
              <a:ext uri="{FF2B5EF4-FFF2-40B4-BE49-F238E27FC236}">
                <a16:creationId xmlns:a16="http://schemas.microsoft.com/office/drawing/2014/main" id="{3FC35577-8E82-4E03-9227-F585D9F8AE91}"/>
              </a:ext>
            </a:extLst>
          </p:cNvPr>
          <p:cNvPicPr>
            <a:picLocks noGrp="1" noChangeAspect="1"/>
          </p:cNvPicPr>
          <p:nvPr>
            <p:ph type="pic" sz="quarter" idx="13"/>
          </p:nvPr>
        </p:nvPicPr>
        <p:blipFill>
          <a:blip r:embed="rId3"/>
          <a:srcRect l="14773" r="21638" b="-1"/>
          <a:stretch>
            <a:fillRect/>
          </a:stretch>
        </p:blipFill>
        <p:spPr>
          <a:xfrm>
            <a:off x="5658928" y="10"/>
            <a:ext cx="6533072" cy="6857990"/>
          </a:xfrm>
          <a:solidFill>
            <a:srgbClr val="F3EBE8"/>
          </a:solidFill>
        </p:spPr>
      </p:pic>
      <p:pic>
        <p:nvPicPr>
          <p:cNvPr id="8" name="Picture 7">
            <a:extLst>
              <a:ext uri="{FF2B5EF4-FFF2-40B4-BE49-F238E27FC236}">
                <a16:creationId xmlns:a16="http://schemas.microsoft.com/office/drawing/2014/main" id="{E712BC3B-91E7-7CC3-57C4-78D86568D63B}"/>
              </a:ext>
            </a:extLst>
          </p:cNvPr>
          <p:cNvPicPr>
            <a:picLocks noChangeAspect="1"/>
          </p:cNvPicPr>
          <p:nvPr/>
        </p:nvPicPr>
        <p:blipFill>
          <a:blip r:embed="rId4"/>
          <a:stretch>
            <a:fillRect/>
          </a:stretch>
        </p:blipFill>
        <p:spPr>
          <a:xfrm>
            <a:off x="312373" y="4920955"/>
            <a:ext cx="5244230" cy="1469314"/>
          </a:xfrm>
          <a:prstGeom prst="rect">
            <a:avLst/>
          </a:prstGeom>
        </p:spPr>
      </p:pic>
    </p:spTree>
    <p:extLst>
      <p:ext uri="{BB962C8B-B14F-4D97-AF65-F5344CB8AC3E}">
        <p14:creationId xmlns:p14="http://schemas.microsoft.com/office/powerpoint/2010/main" val="37489779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2EB2EC-5B71-7C6F-D224-2B21EA5534C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29939" y="1168982"/>
            <a:ext cx="4893924" cy="737273"/>
          </a:xfrm>
        </p:spPr>
        <p:txBody>
          <a:bodyPr>
            <a:normAutofit fontScale="85000" lnSpcReduction="20000"/>
          </a:bodyPr>
          <a:lstStyle/>
          <a:p>
            <a:pPr marL="0" indent="0">
              <a:spcBef>
                <a:spcPts val="2500"/>
              </a:spcBef>
              <a:buFont typeface="Arial" panose="020B0604020202020204" pitchFamily="34" charset="0"/>
              <a:buNone/>
            </a:pPr>
            <a:r>
              <a:rPr lang="en-US" sz="1400" b="1" dirty="0"/>
              <a:t>Heatmaps for Price Visualization</a:t>
            </a:r>
          </a:p>
          <a:p>
            <a:pPr marL="0" lvl="1" indent="0">
              <a:buFont typeface="Arial" panose="020B0604020202020204" pitchFamily="34" charset="0"/>
              <a:buNone/>
            </a:pPr>
            <a:r>
              <a:rPr lang="en-US" sz="1400" dirty="0"/>
              <a:t>Heatmaps display average prices or price per square foot to show spatial price variations effectively.</a:t>
            </a:r>
          </a:p>
        </p:txBody>
      </p:sp>
      <p:pic>
        <p:nvPicPr>
          <p:cNvPr id="5" name="Content Placeholder 4" descr="Geospatial heatmap showing property price clusters and proximity to city centers and transit hubs">
            <a:extLst>
              <a:ext uri="{FF2B5EF4-FFF2-40B4-BE49-F238E27FC236}">
                <a16:creationId xmlns:a16="http://schemas.microsoft.com/office/drawing/2014/main" id="{0E7E62CA-C731-4F55-B65D-3DCA72A9E08B}"/>
              </a:ext>
            </a:extLst>
          </p:cNvPr>
          <p:cNvPicPr>
            <a:picLocks noGrp="1" noChangeAspect="1"/>
          </p:cNvPicPr>
          <p:nvPr>
            <p:ph type="pic" sz="quarter" idx="13"/>
          </p:nvPr>
        </p:nvPicPr>
        <p:blipFill>
          <a:blip r:embed="rId3"/>
          <a:stretch/>
        </p:blipFill>
        <p:spPr>
          <a:xfrm>
            <a:off x="5658928" y="887944"/>
            <a:ext cx="6533072" cy="4360825"/>
          </a:xfrm>
          <a:solidFill>
            <a:srgbClr val="F3EBE8"/>
          </a:solidFill>
        </p:spPr>
      </p:pic>
      <p:pic>
        <p:nvPicPr>
          <p:cNvPr id="6" name="Picture 5">
            <a:extLst>
              <a:ext uri="{FF2B5EF4-FFF2-40B4-BE49-F238E27FC236}">
                <a16:creationId xmlns:a16="http://schemas.microsoft.com/office/drawing/2014/main" id="{2F0F5AC1-1299-4235-FDCF-08E256D3260C}"/>
              </a:ext>
            </a:extLst>
          </p:cNvPr>
          <p:cNvPicPr>
            <a:picLocks noChangeAspect="1"/>
          </p:cNvPicPr>
          <p:nvPr/>
        </p:nvPicPr>
        <p:blipFill>
          <a:blip r:embed="rId4"/>
          <a:stretch>
            <a:fillRect/>
          </a:stretch>
        </p:blipFill>
        <p:spPr>
          <a:xfrm>
            <a:off x="329939" y="2061580"/>
            <a:ext cx="5196492" cy="4492229"/>
          </a:xfrm>
          <a:prstGeom prst="rect">
            <a:avLst/>
          </a:prstGeom>
        </p:spPr>
      </p:pic>
      <p:sp>
        <p:nvSpPr>
          <p:cNvPr id="9" name="Title 1">
            <a:extLst>
              <a:ext uri="{FF2B5EF4-FFF2-40B4-BE49-F238E27FC236}">
                <a16:creationId xmlns:a16="http://schemas.microsoft.com/office/drawing/2014/main" id="{7D7D83B8-BF78-56A0-FC33-813BDBB5A2F8}"/>
              </a:ext>
            </a:extLst>
          </p:cNvPr>
          <p:cNvSpPr>
            <a:spLocks noGrp="1"/>
          </p:cNvSpPr>
          <p:nvPr>
            <p:ph type="title"/>
          </p:nvPr>
        </p:nvSpPr>
        <p:spPr>
          <a:xfrm>
            <a:off x="246581" y="304191"/>
            <a:ext cx="5196492" cy="800832"/>
          </a:xfrm>
        </p:spPr>
        <p:txBody>
          <a:bodyPr anchor="b">
            <a:noAutofit/>
          </a:bodyPr>
          <a:lstStyle/>
          <a:p>
            <a:r>
              <a:rPr lang="en-IN" sz="2400" dirty="0"/>
              <a:t>Mapping Property Prices Geographically</a:t>
            </a:r>
          </a:p>
        </p:txBody>
      </p:sp>
      <p:sp>
        <p:nvSpPr>
          <p:cNvPr id="10" name="Content Placeholder 2">
            <a:extLst>
              <a:ext uri="{FF2B5EF4-FFF2-40B4-BE49-F238E27FC236}">
                <a16:creationId xmlns:a16="http://schemas.microsoft.com/office/drawing/2014/main" id="{4E53A5EA-3B25-67EB-E68F-D7F63E4C5391}"/>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989121" y="5476879"/>
            <a:ext cx="4893924" cy="147701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Font typeface="Arial" panose="020B0604020202020204" pitchFamily="34" charset="0"/>
              <a:buNone/>
            </a:pPr>
            <a:endParaRPr lang="en-US" sz="1400" dirty="0"/>
          </a:p>
          <a:p>
            <a:pPr marL="0" lvl="1" indent="0">
              <a:buFont typeface="Arial" panose="020B0604020202020204" pitchFamily="34" charset="0"/>
              <a:buNone/>
            </a:pPr>
            <a:endParaRPr lang="en-US" sz="1400" dirty="0"/>
          </a:p>
        </p:txBody>
      </p:sp>
      <p:sp>
        <p:nvSpPr>
          <p:cNvPr id="11" name="Content Placeholder 2">
            <a:extLst>
              <a:ext uri="{FF2B5EF4-FFF2-40B4-BE49-F238E27FC236}">
                <a16:creationId xmlns:a16="http://schemas.microsoft.com/office/drawing/2014/main" id="{59AD7D21-FE14-F766-7250-81F7F6BE10CF}"/>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250113" y="5476879"/>
            <a:ext cx="5196492" cy="84270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None/>
            </a:pPr>
            <a:r>
              <a:rPr lang="en-US" sz="1200" b="1" dirty="0"/>
              <a:t>Overall Summary:</a:t>
            </a:r>
          </a:p>
          <a:p>
            <a:pPr marL="0" lvl="1" indent="0">
              <a:buNone/>
            </a:pPr>
            <a:r>
              <a:rPr lang="en-US" sz="1200" dirty="0"/>
              <a:t>More or less all the features has positive co-relation or impact on </a:t>
            </a:r>
            <a:r>
              <a:rPr lang="en-US" sz="1200" dirty="0" err="1"/>
              <a:t>SalesPrice</a:t>
            </a:r>
            <a:r>
              <a:rPr lang="en-US" sz="1200" dirty="0"/>
              <a:t> except </a:t>
            </a:r>
            <a:r>
              <a:rPr lang="en-US" sz="1200" dirty="0" err="1"/>
              <a:t>YearSold</a:t>
            </a:r>
            <a:r>
              <a:rPr lang="en-US" sz="1200" dirty="0"/>
              <a:t>, </a:t>
            </a:r>
            <a:r>
              <a:rPr lang="en-US" sz="1200" dirty="0" err="1"/>
              <a:t>MiscVal</a:t>
            </a:r>
            <a:r>
              <a:rPr lang="en-US" sz="1200" dirty="0"/>
              <a:t> (Value of Miscellaneous feature installed)</a:t>
            </a:r>
          </a:p>
        </p:txBody>
      </p:sp>
    </p:spTree>
    <p:extLst>
      <p:ext uri="{BB962C8B-B14F-4D97-AF65-F5344CB8AC3E}">
        <p14:creationId xmlns:p14="http://schemas.microsoft.com/office/powerpoint/2010/main" val="38748682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nodePh="1">
                                  <p:stCondLst>
                                    <p:cond delay="250"/>
                                  </p:stCondLst>
                                  <p:endCondLst>
                                    <p:cond evt="begin" delay="0">
                                      <p:tn val="10"/>
                                    </p:cond>
                                  </p:endCondLst>
                                  <p:iterate>
                                    <p:tmPct val="10000"/>
                                  </p:iterate>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anim calcmode="lin" valueType="num">
                                      <p:cBhvr>
                                        <p:cTn id="13" dur="250" fill="hold"/>
                                        <p:tgtEl>
                                          <p:spTgt spid="10"/>
                                        </p:tgtEl>
                                        <p:attrNameLst>
                                          <p:attrName>ppt_x</p:attrName>
                                        </p:attrNameLst>
                                      </p:cBhvr>
                                      <p:tavLst>
                                        <p:tav tm="0">
                                          <p:val>
                                            <p:strVal val="#ppt_x"/>
                                          </p:val>
                                        </p:tav>
                                        <p:tav tm="100000">
                                          <p:val>
                                            <p:strVal val="#ppt_x"/>
                                          </p:val>
                                        </p:tav>
                                      </p:tavLst>
                                    </p:anim>
                                    <p:anim calcmode="lin" valueType="num">
                                      <p:cBhvr>
                                        <p:cTn id="14" dur="250" fill="hold"/>
                                        <p:tgtEl>
                                          <p:spTgt spid="10"/>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250"/>
                                  </p:stCondLst>
                                  <p:iterate>
                                    <p:tmPct val="10000"/>
                                  </p:iterate>
                                  <p:childTnLst>
                                    <p:set>
                                      <p:cBhvr>
                                        <p:cTn id="16" dur="1" fill="hold">
                                          <p:stCondLst>
                                            <p:cond delay="0"/>
                                          </p:stCondLst>
                                        </p:cTn>
                                        <p:tgtEl>
                                          <p:spTgt spid="11"/>
                                        </p:tgtEl>
                                        <p:attrNameLst>
                                          <p:attrName>style.visibility</p:attrName>
                                        </p:attrNameLst>
                                      </p:cBhvr>
                                      <p:to>
                                        <p:strVal val="visible"/>
                                      </p:to>
                                    </p:set>
                                    <p:animEffect transition="in" filter="fade">
                                      <p:cBhvr>
                                        <p:cTn id="17" dur="250"/>
                                        <p:tgtEl>
                                          <p:spTgt spid="11"/>
                                        </p:tgtEl>
                                      </p:cBhvr>
                                    </p:animEffect>
                                    <p:anim calcmode="lin" valueType="num">
                                      <p:cBhvr>
                                        <p:cTn id="18" dur="250" fill="hold"/>
                                        <p:tgtEl>
                                          <p:spTgt spid="11"/>
                                        </p:tgtEl>
                                        <p:attrNameLst>
                                          <p:attrName>ppt_x</p:attrName>
                                        </p:attrNameLst>
                                      </p:cBhvr>
                                      <p:tavLst>
                                        <p:tav tm="0">
                                          <p:val>
                                            <p:strVal val="#ppt_x"/>
                                          </p:val>
                                        </p:tav>
                                        <p:tav tm="100000">
                                          <p:val>
                                            <p:strVal val="#ppt_x"/>
                                          </p:val>
                                        </p:tav>
                                      </p:tavLst>
                                    </p:anim>
                                    <p:anim calcmode="lin" valueType="num">
                                      <p:cBhvr>
                                        <p:cTn id="19" dur="2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465F8-2CA6-C1CD-3676-7CC5B3701DDB}"/>
              </a:ext>
            </a:extLst>
          </p:cNvPr>
          <p:cNvSpPr>
            <a:spLocks noGrp="1"/>
          </p:cNvSpPr>
          <p:nvPr>
            <p:ph type="title"/>
          </p:nvPr>
        </p:nvSpPr>
        <p:spPr>
          <a:xfrm>
            <a:off x="493159" y="312684"/>
            <a:ext cx="4746661" cy="858569"/>
          </a:xfrm>
        </p:spPr>
        <p:txBody>
          <a:bodyPr anchor="b">
            <a:normAutofit/>
          </a:bodyPr>
          <a:lstStyle/>
          <a:p>
            <a:r>
              <a:rPr lang="en-IN" sz="2400" dirty="0"/>
              <a:t>MULTIVARIATE ANALYSIS – PAIR PLOT</a:t>
            </a:r>
          </a:p>
        </p:txBody>
      </p:sp>
      <p:sp>
        <p:nvSpPr>
          <p:cNvPr id="3" name="Content Placeholder 2">
            <a:extLst>
              <a:ext uri="{FF2B5EF4-FFF2-40B4-BE49-F238E27FC236}">
                <a16:creationId xmlns:a16="http://schemas.microsoft.com/office/drawing/2014/main" id="{5F3B959F-0149-02DF-3B22-890982F7D90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380141" y="4729571"/>
            <a:ext cx="5029257" cy="1695236"/>
          </a:xfrm>
        </p:spPr>
        <p:txBody>
          <a:bodyPr>
            <a:normAutofit fontScale="40000" lnSpcReduction="20000"/>
          </a:bodyPr>
          <a:lstStyle/>
          <a:p>
            <a:pPr marL="0" lvl="1" indent="0">
              <a:buNone/>
            </a:pPr>
            <a:r>
              <a:rPr lang="en-US" sz="2900" b="1" dirty="0"/>
              <a:t>Overall Summary</a:t>
            </a:r>
            <a:r>
              <a:rPr lang="en-US" sz="1200" b="1" dirty="0"/>
              <a:t>:</a:t>
            </a:r>
            <a:endParaRPr lang="en-US" sz="2800" b="1" dirty="0"/>
          </a:p>
          <a:p>
            <a:r>
              <a:rPr lang="en-US" sz="2800" dirty="0"/>
              <a:t>The pair plot reveals strong positive relationships between </a:t>
            </a:r>
            <a:r>
              <a:rPr lang="en-US" sz="2800" dirty="0" err="1"/>
              <a:t>GrLivArea</a:t>
            </a:r>
            <a:r>
              <a:rPr lang="en-US" sz="2800" dirty="0"/>
              <a:t>, </a:t>
            </a:r>
            <a:r>
              <a:rPr lang="en-US" sz="2800" dirty="0" err="1"/>
              <a:t>GarageArea</a:t>
            </a:r>
            <a:r>
              <a:rPr lang="en-US" sz="2800" dirty="0"/>
              <a:t>, and </a:t>
            </a:r>
            <a:r>
              <a:rPr lang="en-US" sz="2800" dirty="0" err="1"/>
              <a:t>SalePrice</a:t>
            </a:r>
            <a:r>
              <a:rPr lang="en-US" sz="2800" dirty="0"/>
              <a:t>. Clear segmentation by </a:t>
            </a:r>
            <a:r>
              <a:rPr lang="en-US" sz="2800" dirty="0" err="1"/>
              <a:t>OverallQual</a:t>
            </a:r>
            <a:r>
              <a:rPr lang="en-US" sz="2800" dirty="0"/>
              <a:t> is visible, with higher quality homes consistently commanding higher prices across all size-related features. The distribution of </a:t>
            </a:r>
            <a:r>
              <a:rPr lang="en-US" sz="2800" dirty="0" err="1"/>
              <a:t>SalePrice</a:t>
            </a:r>
            <a:r>
              <a:rPr lang="en-US" sz="2800" dirty="0"/>
              <a:t> is right-skewed, indicating the presence of high-value outliers.</a:t>
            </a:r>
          </a:p>
          <a:p>
            <a:r>
              <a:rPr lang="en-US" sz="2800" dirty="0"/>
              <a:t>Price increases consistently with property size, while quality strongly amplifies valuation, making these features critical for predictive modeling.</a:t>
            </a:r>
          </a:p>
        </p:txBody>
      </p:sp>
      <p:pic>
        <p:nvPicPr>
          <p:cNvPr id="5" name="Content Placeholder 4" descr="Illustration of regional maps with neighborhood clusters, socio-economic data and price analysis charts">
            <a:extLst>
              <a:ext uri="{FF2B5EF4-FFF2-40B4-BE49-F238E27FC236}">
                <a16:creationId xmlns:a16="http://schemas.microsoft.com/office/drawing/2014/main" id="{5C112F4A-18FB-4968-AA8E-108638E50AEF}"/>
              </a:ext>
            </a:extLst>
          </p:cNvPr>
          <p:cNvPicPr>
            <a:picLocks noGrp="1" noChangeAspect="1"/>
          </p:cNvPicPr>
          <p:nvPr>
            <p:ph type="pic" sz="quarter" idx="13"/>
          </p:nvPr>
        </p:nvPicPr>
        <p:blipFill>
          <a:blip r:embed="rId3"/>
          <a:stretch/>
        </p:blipFill>
        <p:spPr>
          <a:xfrm>
            <a:off x="5658928" y="1248587"/>
            <a:ext cx="6533072" cy="4360825"/>
          </a:xfrm>
          <a:solidFill>
            <a:srgbClr val="F3EBE8"/>
          </a:solidFill>
        </p:spPr>
      </p:pic>
      <p:pic>
        <p:nvPicPr>
          <p:cNvPr id="9" name="Picture 8">
            <a:extLst>
              <a:ext uri="{FF2B5EF4-FFF2-40B4-BE49-F238E27FC236}">
                <a16:creationId xmlns:a16="http://schemas.microsoft.com/office/drawing/2014/main" id="{E664D9CF-EAA7-B948-CB36-7900D98A6753}"/>
              </a:ext>
            </a:extLst>
          </p:cNvPr>
          <p:cNvPicPr>
            <a:picLocks noChangeAspect="1"/>
          </p:cNvPicPr>
          <p:nvPr/>
        </p:nvPicPr>
        <p:blipFill>
          <a:blip r:embed="rId4"/>
          <a:stretch>
            <a:fillRect/>
          </a:stretch>
        </p:blipFill>
        <p:spPr>
          <a:xfrm>
            <a:off x="163759" y="2120034"/>
            <a:ext cx="5405455" cy="2407074"/>
          </a:xfrm>
          <a:prstGeom prst="rect">
            <a:avLst/>
          </a:prstGeom>
        </p:spPr>
      </p:pic>
      <p:sp>
        <p:nvSpPr>
          <p:cNvPr id="10" name="Content Placeholder 2">
            <a:extLst>
              <a:ext uri="{FF2B5EF4-FFF2-40B4-BE49-F238E27FC236}">
                <a16:creationId xmlns:a16="http://schemas.microsoft.com/office/drawing/2014/main" id="{7876FD7E-D479-3449-FC42-E4A60F934A0A}"/>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3157" y="1373716"/>
            <a:ext cx="4746661" cy="54385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Pair plot designed on </a:t>
            </a:r>
            <a:r>
              <a:rPr lang="en-IN" sz="1200" dirty="0" err="1"/>
              <a:t>SalePrice</a:t>
            </a:r>
            <a:r>
              <a:rPr lang="en-IN" sz="1200" dirty="0"/>
              <a:t>, </a:t>
            </a:r>
            <a:r>
              <a:rPr lang="en-IN" sz="1200" dirty="0" err="1"/>
              <a:t>OverallQual</a:t>
            </a:r>
            <a:r>
              <a:rPr lang="en-IN" sz="1200" dirty="0"/>
              <a:t>, </a:t>
            </a:r>
            <a:r>
              <a:rPr lang="en-IN" sz="1200" dirty="0" err="1"/>
              <a:t>GrLivArea</a:t>
            </a:r>
            <a:r>
              <a:rPr lang="en-IN" sz="1200" dirty="0"/>
              <a:t>, </a:t>
            </a:r>
            <a:r>
              <a:rPr lang="en-IN" sz="1200" dirty="0" err="1"/>
              <a:t>TotalBsmtSF</a:t>
            </a:r>
            <a:r>
              <a:rPr lang="en-IN" sz="1200" dirty="0"/>
              <a:t>, </a:t>
            </a:r>
            <a:r>
              <a:rPr lang="en-IN" sz="1200" dirty="0" err="1"/>
              <a:t>GarageArea</a:t>
            </a:r>
            <a:r>
              <a:rPr lang="en-IN" sz="1200" dirty="0"/>
              <a:t>, </a:t>
            </a:r>
            <a:r>
              <a:rPr lang="en-IN" sz="1200" dirty="0" err="1"/>
              <a:t>YearBuilt</a:t>
            </a:r>
            <a:r>
              <a:rPr lang="en-IN" sz="1200" dirty="0"/>
              <a:t> columns to analyse their impact on each-other as well as Salese.</a:t>
            </a:r>
          </a:p>
          <a:p>
            <a:endParaRPr lang="en-IN" sz="1400" dirty="0"/>
          </a:p>
          <a:p>
            <a:r>
              <a:rPr lang="en-US" sz="1400" dirty="0"/>
              <a:t>,</a:t>
            </a:r>
          </a:p>
        </p:txBody>
      </p:sp>
    </p:spTree>
    <p:extLst>
      <p:ext uri="{BB962C8B-B14F-4D97-AF65-F5344CB8AC3E}">
        <p14:creationId xmlns:p14="http://schemas.microsoft.com/office/powerpoint/2010/main" val="6000517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250"/>
                                  </p:stCondLst>
                                  <p:iterate>
                                    <p:tmPct val="10000"/>
                                  </p:iterate>
                                  <p:childTnLst>
                                    <p:set>
                                      <p:cBhvr>
                                        <p:cTn id="11" dur="1" fill="hold">
                                          <p:stCondLst>
                                            <p:cond delay="0"/>
                                          </p:stCondLst>
                                        </p:cTn>
                                        <p:tgtEl>
                                          <p:spTgt spid="10"/>
                                        </p:tgtEl>
                                        <p:attrNameLst>
                                          <p:attrName>style.visibility</p:attrName>
                                        </p:attrNameLst>
                                      </p:cBhvr>
                                      <p:to>
                                        <p:strVal val="visible"/>
                                      </p:to>
                                    </p:set>
                                    <p:animEffect transition="in" filter="fade">
                                      <p:cBhvr>
                                        <p:cTn id="12" dur="250"/>
                                        <p:tgtEl>
                                          <p:spTgt spid="10"/>
                                        </p:tgtEl>
                                      </p:cBhvr>
                                    </p:animEffect>
                                    <p:anim calcmode="lin" valueType="num">
                                      <p:cBhvr>
                                        <p:cTn id="13" dur="250" fill="hold"/>
                                        <p:tgtEl>
                                          <p:spTgt spid="10"/>
                                        </p:tgtEl>
                                        <p:attrNameLst>
                                          <p:attrName>ppt_x</p:attrName>
                                        </p:attrNameLst>
                                      </p:cBhvr>
                                      <p:tavLst>
                                        <p:tav tm="0">
                                          <p:val>
                                            <p:strVal val="#ppt_x"/>
                                          </p:val>
                                        </p:tav>
                                        <p:tav tm="100000">
                                          <p:val>
                                            <p:strVal val="#ppt_x"/>
                                          </p:val>
                                        </p:tav>
                                      </p:tavLst>
                                    </p:anim>
                                    <p:anim calcmode="lin" valueType="num">
                                      <p:cBhvr>
                                        <p:cTn id="14" dur="25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65400-AB61-C128-7F8B-01CDDA01EFA4}"/>
              </a:ext>
            </a:extLst>
          </p:cNvPr>
          <p:cNvSpPr>
            <a:spLocks noGrp="1"/>
          </p:cNvSpPr>
          <p:nvPr>
            <p:ph type="ctrTitle"/>
          </p:nvPr>
        </p:nvSpPr>
        <p:spPr>
          <a:xfrm>
            <a:off x="1522013" y="1282325"/>
            <a:ext cx="8893834" cy="3988550"/>
          </a:xfrm>
        </p:spPr>
        <p:txBody>
          <a:bodyPr anchor="ctr">
            <a:normAutofit/>
          </a:bodyPr>
          <a:lstStyle/>
          <a:p>
            <a:r>
              <a:rPr lang="en-IN"/>
              <a:t>Key Insights and Implications for Pricing Models</a:t>
            </a:r>
          </a:p>
        </p:txBody>
      </p:sp>
    </p:spTree>
    <p:extLst>
      <p:ext uri="{BB962C8B-B14F-4D97-AF65-F5344CB8AC3E}">
        <p14:creationId xmlns:p14="http://schemas.microsoft.com/office/powerpoint/2010/main" val="8610043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2CA17-1F35-EFB1-F8D3-2F3FD453AF0B}"/>
              </a:ext>
            </a:extLst>
          </p:cNvPr>
          <p:cNvSpPr>
            <a:spLocks noGrp="1"/>
          </p:cNvSpPr>
          <p:nvPr>
            <p:ph type="title"/>
          </p:nvPr>
        </p:nvSpPr>
        <p:spPr>
          <a:xfrm>
            <a:off x="612648" y="706802"/>
            <a:ext cx="4672584" cy="1269482"/>
          </a:xfrm>
        </p:spPr>
        <p:txBody>
          <a:bodyPr anchor="t">
            <a:normAutofit/>
          </a:bodyPr>
          <a:lstStyle/>
          <a:p>
            <a:r>
              <a:rPr lang="en-IN"/>
              <a:t>Summary of EDA Findings</a:t>
            </a:r>
          </a:p>
        </p:txBody>
      </p:sp>
      <p:pic>
        <p:nvPicPr>
          <p:cNvPr id="5" name="Content Placeholder 4" descr="Data analysis concepts showing charts, data quality checks, features, and spatial-temporal trends">
            <a:extLst>
              <a:ext uri="{FF2B5EF4-FFF2-40B4-BE49-F238E27FC236}">
                <a16:creationId xmlns:a16="http://schemas.microsoft.com/office/drawing/2014/main" id="{2048D214-F746-4168-B710-67DAC84C3B88}"/>
              </a:ext>
            </a:extLst>
          </p:cNvPr>
          <p:cNvPicPr>
            <a:picLocks noGrp="1" noChangeAspect="1"/>
          </p:cNvPicPr>
          <p:nvPr>
            <p:ph type="pic" sz="quarter" idx="15"/>
          </p:nvPr>
        </p:nvPicPr>
        <p:blipFill>
          <a:blip r:embed="rId3"/>
          <a:stretch/>
        </p:blipFill>
        <p:spPr>
          <a:xfrm>
            <a:off x="609599" y="2572551"/>
            <a:ext cx="4488792" cy="2996268"/>
          </a:xfrm>
          <a:solidFill>
            <a:srgbClr val="F3EBE8"/>
          </a:solidFill>
        </p:spPr>
      </p:pic>
      <p:sp>
        <p:nvSpPr>
          <p:cNvPr id="3" name="Content Placeholder 2">
            <a:extLst>
              <a:ext uri="{FF2B5EF4-FFF2-40B4-BE49-F238E27FC236}">
                <a16:creationId xmlns:a16="http://schemas.microsoft.com/office/drawing/2014/main" id="{F77FB2CC-9755-2B76-64D0-18278EF21FD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1809549"/>
            <a:ext cx="5676838" cy="4119613"/>
          </a:xfrm>
        </p:spPr>
        <p:txBody>
          <a:bodyPr>
            <a:normAutofit/>
          </a:bodyPr>
          <a:lstStyle/>
          <a:p>
            <a:pPr marL="0" indent="0">
              <a:spcBef>
                <a:spcPts val="2500"/>
              </a:spcBef>
              <a:buFont typeface="Arial" panose="020B0604020202020204" pitchFamily="34" charset="0"/>
              <a:buNone/>
            </a:pPr>
            <a:r>
              <a:rPr lang="en-US" sz="1400" b="1" dirty="0"/>
              <a:t>Market Drivers Identified</a:t>
            </a:r>
          </a:p>
          <a:p>
            <a:pPr marL="0" lvl="1" indent="0">
              <a:buNone/>
            </a:pPr>
            <a:r>
              <a:rPr lang="en-US" sz="1400" dirty="0"/>
              <a:t>EDA highlights key market drivers including location, size, </a:t>
            </a:r>
            <a:r>
              <a:rPr lang="en-US" sz="1400" dirty="0" err="1"/>
              <a:t>etc</a:t>
            </a:r>
            <a:r>
              <a:rPr lang="en-US" sz="1400" dirty="0"/>
              <a:t>…</a:t>
            </a:r>
          </a:p>
          <a:p>
            <a:pPr marL="0" lvl="1" indent="0">
              <a:buNone/>
            </a:pPr>
            <a:r>
              <a:rPr lang="en-US" sz="1400" dirty="0"/>
              <a:t>More or less all the features has positive co-relation or impact on </a:t>
            </a:r>
            <a:r>
              <a:rPr lang="en-US" sz="1400" dirty="0" err="1"/>
              <a:t>SalesPrice</a:t>
            </a:r>
            <a:r>
              <a:rPr lang="en-US" sz="1400" dirty="0"/>
              <a:t> except </a:t>
            </a:r>
            <a:r>
              <a:rPr lang="en-US" sz="1400" dirty="0" err="1"/>
              <a:t>YearSold</a:t>
            </a:r>
            <a:r>
              <a:rPr lang="en-US" sz="1400" dirty="0"/>
              <a:t>, </a:t>
            </a:r>
            <a:r>
              <a:rPr lang="en-US" sz="1400" dirty="0" err="1"/>
              <a:t>MiscVal</a:t>
            </a:r>
            <a:r>
              <a:rPr lang="en-US" sz="1400" dirty="0"/>
              <a:t> (Value of Miscellaneous feature installed)</a:t>
            </a:r>
          </a:p>
          <a:p>
            <a:pPr marL="0" indent="0">
              <a:spcBef>
                <a:spcPts val="2500"/>
              </a:spcBef>
              <a:buFont typeface="Arial" panose="020B0604020202020204" pitchFamily="34" charset="0"/>
              <a:buNone/>
            </a:pPr>
            <a:r>
              <a:rPr lang="en-US" sz="1400" b="1" dirty="0"/>
              <a:t>Data Quality Challenges</a:t>
            </a:r>
          </a:p>
          <a:p>
            <a:pPr marL="0" lvl="1" indent="0">
              <a:buFont typeface="Arial" panose="020B0604020202020204" pitchFamily="34" charset="0"/>
              <a:buNone/>
            </a:pPr>
            <a:r>
              <a:rPr lang="en-US" sz="1400" dirty="0"/>
              <a:t>Addressing missing values and outliers is crucial before model development to ensure data integrity.</a:t>
            </a:r>
          </a:p>
          <a:p>
            <a:pPr marL="0" indent="0">
              <a:spcBef>
                <a:spcPts val="2500"/>
              </a:spcBef>
              <a:buFont typeface="Arial" panose="020B0604020202020204" pitchFamily="34" charset="0"/>
              <a:buNone/>
            </a:pPr>
            <a:r>
              <a:rPr lang="en-US" sz="1400" b="1" dirty="0"/>
              <a:t>Feature Engineering Insights</a:t>
            </a:r>
          </a:p>
          <a:p>
            <a:pPr marL="0" lvl="1" indent="0">
              <a:buNone/>
            </a:pPr>
            <a:r>
              <a:rPr lang="en-US" sz="1400" dirty="0"/>
              <a:t>Feature engineering and correlation analysis enhance model robustness and interpretability for pricing. Price increases consistently with property size, while quality strongly amplifies valuation, making these features critical for predictive modeling.</a:t>
            </a:r>
          </a:p>
        </p:txBody>
      </p:sp>
    </p:spTree>
    <p:extLst>
      <p:ext uri="{BB962C8B-B14F-4D97-AF65-F5344CB8AC3E}">
        <p14:creationId xmlns:p14="http://schemas.microsoft.com/office/powerpoint/2010/main" val="2384154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825AA-587F-0FBD-1802-B1E6967F9F65}"/>
              </a:ext>
            </a:extLst>
          </p:cNvPr>
          <p:cNvSpPr>
            <a:spLocks noGrp="1"/>
          </p:cNvSpPr>
          <p:nvPr>
            <p:ph type="title"/>
          </p:nvPr>
        </p:nvSpPr>
        <p:spPr>
          <a:xfrm>
            <a:off x="7094553" y="499533"/>
            <a:ext cx="4477512" cy="1328932"/>
          </a:xfrm>
        </p:spPr>
        <p:txBody>
          <a:bodyPr anchor="b">
            <a:normAutofit/>
          </a:bodyPr>
          <a:lstStyle/>
          <a:p>
            <a:r>
              <a:rPr lang="en-IN" dirty="0"/>
              <a:t>References</a:t>
            </a:r>
          </a:p>
        </p:txBody>
      </p:sp>
      <p:pic>
        <p:nvPicPr>
          <p:cNvPr id="5" name="Picture 4" descr="One big red thumbtack in front of many smaller black thumbtacks">
            <a:extLst>
              <a:ext uri="{FF2B5EF4-FFF2-40B4-BE49-F238E27FC236}">
                <a16:creationId xmlns:a16="http://schemas.microsoft.com/office/drawing/2014/main" id="{4F246F26-7C02-FDA9-2685-B5E17BB9AFB5}"/>
              </a:ext>
            </a:extLst>
          </p:cNvPr>
          <p:cNvPicPr>
            <a:picLocks noChangeAspect="1"/>
          </p:cNvPicPr>
          <p:nvPr/>
        </p:nvPicPr>
        <p:blipFill>
          <a:blip r:embed="rId2"/>
          <a:srcRect l="11370" r="-1" b="-1"/>
          <a:stretch>
            <a:fillRect/>
          </a:stretch>
        </p:blipFill>
        <p:spPr>
          <a:xfrm>
            <a:off x="1" y="755341"/>
            <a:ext cx="6492240" cy="5347317"/>
          </a:xfrm>
          <a:prstGeom prst="rect">
            <a:avLst/>
          </a:prstGeom>
          <a:noFill/>
        </p:spPr>
      </p:pic>
      <p:sp>
        <p:nvSpPr>
          <p:cNvPr id="9" name="Content Placeholder 2">
            <a:extLst>
              <a:ext uri="{FF2B5EF4-FFF2-40B4-BE49-F238E27FC236}">
                <a16:creationId xmlns:a16="http://schemas.microsoft.com/office/drawing/2014/main" id="{85E4549F-BA6A-E650-A557-1C15C26A7E6A}"/>
              </a:ext>
            </a:extLst>
          </p:cNvPr>
          <p:cNvSpPr>
            <a:spLocks noGrp="1"/>
          </p:cNvSpPr>
          <p:nvPr>
            <p:ph sz="quarter" idx="14"/>
          </p:nvPr>
        </p:nvSpPr>
        <p:spPr>
          <a:xfrm>
            <a:off x="7104889" y="2147299"/>
            <a:ext cx="4477512" cy="3493214"/>
          </a:xfrm>
        </p:spPr>
        <p:txBody>
          <a:bodyPr>
            <a:normAutofit/>
          </a:bodyPr>
          <a:lstStyle/>
          <a:p>
            <a:r>
              <a:rPr lang="en-US" dirty="0"/>
              <a:t>https://www.datacamp.com/blog/data-preprocessing</a:t>
            </a:r>
          </a:p>
          <a:p>
            <a:pPr marL="285750" indent="-285750"/>
            <a:r>
              <a:rPr lang="en-US" dirty="0"/>
              <a:t>https://seaborn.pydata.org/generated/seaborn.jointplot.html</a:t>
            </a:r>
          </a:p>
          <a:p>
            <a:pPr marL="285750" indent="-285750">
              <a:buFont typeface="Arial" panose="020B0604020202020204" pitchFamily="34" charset="0"/>
              <a:buChar char="•"/>
            </a:pPr>
            <a:r>
              <a:rPr lang="en-US" dirty="0"/>
              <a:t>https://www.theclickreader.com/univariate-bivariate-and-multivariate-analysis/</a:t>
            </a:r>
          </a:p>
          <a:p>
            <a:pPr marL="285750" indent="-285750">
              <a:buFont typeface="Arial" panose="020B0604020202020204" pitchFamily="34" charset="0"/>
              <a:buChar char="•"/>
            </a:pPr>
            <a:r>
              <a:rPr lang="en-US" dirty="0"/>
              <a:t>https://matplotlib.org/stable/users/explain/colors/colormaps.html</a:t>
            </a:r>
          </a:p>
        </p:txBody>
      </p:sp>
    </p:spTree>
    <p:extLst>
      <p:ext uri="{BB962C8B-B14F-4D97-AF65-F5344CB8AC3E}">
        <p14:creationId xmlns:p14="http://schemas.microsoft.com/office/powerpoint/2010/main" val="453008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C4612-9790-409A-D30E-C6BF3923B9FE}"/>
              </a:ext>
            </a:extLst>
          </p:cNvPr>
          <p:cNvSpPr>
            <a:spLocks noGrp="1"/>
          </p:cNvSpPr>
          <p:nvPr>
            <p:ph type="title"/>
          </p:nvPr>
        </p:nvSpPr>
        <p:spPr>
          <a:xfrm>
            <a:off x="1051011" y="1571632"/>
            <a:ext cx="6905972" cy="1133856"/>
          </a:xfrm>
        </p:spPr>
        <p:txBody>
          <a:bodyPr anchor="b">
            <a:normAutofit/>
          </a:bodyPr>
          <a:lstStyle/>
          <a:p>
            <a:r>
              <a:rPr lang="en-IN" sz="2900"/>
              <a:t>Conclusion: Harnessing EDA to Drive Smarter Real Estate Pricing Decisions</a:t>
            </a:r>
          </a:p>
        </p:txBody>
      </p:sp>
      <p:graphicFrame>
        <p:nvGraphicFramePr>
          <p:cNvPr id="7" name="Content Placeholder 2">
            <a:extLst>
              <a:ext uri="{FF2B5EF4-FFF2-40B4-BE49-F238E27FC236}">
                <a16:creationId xmlns:a16="http://schemas.microsoft.com/office/drawing/2014/main" id="{710129C0-38D7-24DA-69AD-F5A7EFC0C69F}"/>
              </a:ext>
            </a:extLst>
          </p:cNvPr>
          <p:cNvGraphicFramePr>
            <a:graphicFrameLocks noGrp="1"/>
          </p:cNvGraphicFramePr>
          <p:nvPr>
            <p:ph sz="quarter" idx="13"/>
            <p:extLst>
              <p:ext uri="{D42A27DB-BD31-4B8C-83A1-F6EECF244321}">
                <p14:modId xmlns:p14="http://schemas.microsoft.com/office/powerpoint/2010/main" val="1567668835"/>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1072428" y="3198297"/>
          <a:ext cx="9844686" cy="24113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21669009"/>
      </p:ext>
    </p:extLst>
  </p:cSld>
  <p:clrMapOvr>
    <a:masterClrMapping/>
  </p:clrMapOvr>
  <p:transition>
    <p:fade/>
  </p:transition>
</p:sld>
</file>

<file path=ppt/theme/theme1.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305</TotalTime>
  <Words>3179</Words>
  <Application>Microsoft Office PowerPoint</Application>
  <PresentationFormat>Widescreen</PresentationFormat>
  <Paragraphs>223</Paragraphs>
  <Slides>24</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Algerian</vt:lpstr>
      <vt:lpstr>Aptos</vt:lpstr>
      <vt:lpstr>Arial</vt:lpstr>
      <vt:lpstr>Century Gothic</vt:lpstr>
      <vt:lpstr>Karla</vt:lpstr>
      <vt:lpstr>Univers Condensed Light</vt:lpstr>
      <vt:lpstr>Chalcot</vt:lpstr>
      <vt:lpstr>         Dt. 31/01/2026  Exploratory Data Analysis (EDA) for Real Estate Pricing:  </vt:lpstr>
      <vt:lpstr>Agenda Highlights</vt:lpstr>
      <vt:lpstr>Introduction to Exploratory Data Analysis in Real Estate</vt:lpstr>
      <vt:lpstr>Purpose and Importance of EDA in Real Estate</vt:lpstr>
      <vt:lpstr>EDA for Real Estate Pricing:  Problem Statement</vt:lpstr>
      <vt:lpstr>Data Preparation and Cleaning</vt:lpstr>
      <vt:lpstr>Identifying and Handling Missing Values</vt:lpstr>
      <vt:lpstr>Dealing with Outliers in Property Prices</vt:lpstr>
      <vt:lpstr>Feature Engineering for Real Estate Data</vt:lpstr>
      <vt:lpstr>Univariate, Bivariate and Multivariate Analysis</vt:lpstr>
      <vt:lpstr>Analysing Key Variables (Price, Size, Location)</vt:lpstr>
      <vt:lpstr>PowerPoint Presentation</vt:lpstr>
      <vt:lpstr>PowerPoint Presentation</vt:lpstr>
      <vt:lpstr>Bivariate Analysis  (Against Target Column “SalesPrice“)</vt:lpstr>
      <vt:lpstr>PowerPoint Presentation</vt:lpstr>
      <vt:lpstr>BIVARIATE ANALYSIS - JOINT PLOT</vt:lpstr>
      <vt:lpstr>PowerPoint Presentation</vt:lpstr>
      <vt:lpstr>Correlations Between Features and Pricing</vt:lpstr>
      <vt:lpstr>Mapping Property Prices Geographically</vt:lpstr>
      <vt:lpstr>MULTIVARIATE ANALYSIS – PAIR PLOT</vt:lpstr>
      <vt:lpstr>Key Insights and Implications for Pricing Models</vt:lpstr>
      <vt:lpstr>Summary of EDA Findings</vt:lpstr>
      <vt:lpstr>References</vt:lpstr>
      <vt:lpstr>Conclusion: Harnessing EDA to Drive Smarter Real Estate Pricing Decisions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Subhash Sahoo</dc:creator>
  <cp:lastModifiedBy>Subhash Sahoo</cp:lastModifiedBy>
  <cp:revision>1</cp:revision>
  <dcterms:created xsi:type="dcterms:W3CDTF">2026-02-01T14:53:30Z</dcterms:created>
  <dcterms:modified xsi:type="dcterms:W3CDTF">2026-02-01T20:07:57Z</dcterms:modified>
</cp:coreProperties>
</file>